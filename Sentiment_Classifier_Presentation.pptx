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</p:sldMasterIdLst>
  <p:notesMasterIdLst>
    <p:notesMasterId r:id="rId22"/>
  </p:notesMasterIdLst>
  <p:sldIdLst>
    <p:sldId id="360" r:id="rId3"/>
    <p:sldId id="2147483642" r:id="rId4"/>
    <p:sldId id="2147483643" r:id="rId5"/>
    <p:sldId id="2147483644" r:id="rId6"/>
    <p:sldId id="2147483645" r:id="rId7"/>
    <p:sldId id="268" r:id="rId8"/>
    <p:sldId id="266" r:id="rId9"/>
    <p:sldId id="260" r:id="rId10"/>
    <p:sldId id="262" r:id="rId11"/>
    <p:sldId id="263" r:id="rId12"/>
    <p:sldId id="264" r:id="rId13"/>
    <p:sldId id="265" r:id="rId14"/>
    <p:sldId id="2147483646" r:id="rId15"/>
    <p:sldId id="2147483647" r:id="rId16"/>
    <p:sldId id="269" r:id="rId17"/>
    <p:sldId id="259" r:id="rId18"/>
    <p:sldId id="258" r:id="rId19"/>
    <p:sldId id="257" r:id="rId20"/>
    <p:sldId id="2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8693A0"/>
    <a:srgbClr val="3B4F62"/>
    <a:srgbClr val="E62E11"/>
    <a:srgbClr val="FF0000"/>
    <a:srgbClr val="FF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9EB46-7B72-41E4-A931-EB0AC4D1B25E}" v="5551" dt="2026-03-13T14:27:50.383"/>
    <p1510:client id="{54995202-6CB5-562D-0170-FB13F3794BF2}" v="26" dt="2026-03-13T01:20:14.997"/>
    <p1510:client id="{7D8A5AF8-D4EE-1D52-4155-19BCE3C6343F}" v="467" dt="2026-03-13T14:48:28.434"/>
    <p1510:client id="{ABE0D563-9107-4AE9-0230-72E1DD60ADB4}" v="1045" dt="2026-03-13T06:28:44.661"/>
    <p1510:client id="{B0183C3D-B209-574E-FFD3-6A31367E5FA1}" v="11" vWet="13" dt="2026-03-13T13:48:36.106"/>
    <p1510:client id="{BA1143E3-CD5D-5CB3-778C-3C86AFFB9D0F}" v="3820" dt="2026-03-12T15:55:27.069"/>
    <p1510:client id="{DA10A176-BCCA-3222-9620-21C8F2DDBB05}" v="26" dt="2026-03-13T05:38:50.425"/>
    <p1510:client id="{FA188C51-6A7C-9875-B99B-65AE7554CF0C}" v="22" dt="2026-03-13T13:43:41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699C7-0CEC-49C4-9C58-1545A00094B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9C03C-76F3-4592-9FB8-EE870FA32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2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SLIDES_API113401860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1" name="Google Shape;181;SLIDES_API113401860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719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3300-7F0E-CC66-5348-DDDBAC99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CD39A-5382-9128-9200-8D0E3659D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1DF4F-BB51-890E-BBEA-FF56ED7A5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82D24-E664-4BF6-8486-C882FA259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C03C-76F3-4592-9FB8-EE870FA32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0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4AAD-9242-5555-8E3A-97C60723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3C5F1-8916-5C17-BA46-B49C99E8D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C2E02-BA6F-EE44-CA26-49A56FDB7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Random Forest -&gt; TF-IDF ( </a:t>
            </a:r>
            <a:r>
              <a:rPr lang="en-US" err="1">
                <a:latin typeface="Calibri"/>
                <a:ea typeface="Calibri"/>
                <a:cs typeface="Calibri"/>
              </a:rPr>
              <a:t>untuk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representasi</a:t>
            </a:r>
            <a:r>
              <a:rPr lang="en-US">
                <a:latin typeface="Calibri"/>
                <a:ea typeface="Calibri"/>
                <a:cs typeface="Calibri"/>
              </a:rPr>
              <a:t> kata </a:t>
            </a:r>
            <a:r>
              <a:rPr lang="en-US" err="1">
                <a:latin typeface="Calibri"/>
                <a:ea typeface="Calibri"/>
                <a:cs typeface="Calibri"/>
              </a:rPr>
              <a:t>dalam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vektor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LSTM -&gt; </a:t>
            </a:r>
            <a:r>
              <a:rPr lang="en-US"/>
              <a:t>embedding-based representation/ word embedding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7581D-4111-6299-6485-F5CA6FFCC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C03C-76F3-4592-9FB8-EE870FA32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91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F4F5-2360-A08F-3B01-52D3FA86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DD4FC-C9A3-54A2-EB3E-76E695DE1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B42F8-D09C-046D-ACD2-935A14BEC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Random Forest -&gt; TF-IDF ( </a:t>
            </a:r>
            <a:r>
              <a:rPr lang="en-US" err="1">
                <a:latin typeface="Calibri"/>
                <a:ea typeface="Calibri"/>
                <a:cs typeface="Calibri"/>
              </a:rPr>
              <a:t>untuk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representasi</a:t>
            </a:r>
            <a:r>
              <a:rPr lang="en-US">
                <a:latin typeface="Calibri"/>
                <a:ea typeface="Calibri"/>
                <a:cs typeface="Calibri"/>
              </a:rPr>
              <a:t> kata </a:t>
            </a:r>
            <a:r>
              <a:rPr lang="en-US" err="1">
                <a:latin typeface="Calibri"/>
                <a:ea typeface="Calibri"/>
                <a:cs typeface="Calibri"/>
              </a:rPr>
              <a:t>dalam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vektor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LSTM -&gt; </a:t>
            </a:r>
            <a:r>
              <a:rPr lang="en-US"/>
              <a:t>embedding-based representation/ word embedding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D54B9-EDE4-D659-9DE8-05C1A512E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C03C-76F3-4592-9FB8-EE870FA32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59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Tambahkan</a:t>
            </a:r>
            <a:r>
              <a:rPr lang="en-US"/>
              <a:t> business objective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menjawab</a:t>
            </a:r>
            <a:r>
              <a:rPr lang="en-US"/>
              <a:t> kesimpulan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C03C-76F3-4592-9FB8-EE870FA32E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00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E6CE-594F-EEA1-29BB-EDE3D9F6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4EAEF-FC2C-780F-716C-AB985D82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8E3FE-D501-F9EC-E430-1B71CDDF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Tambahkan</a:t>
            </a:r>
            <a:r>
              <a:rPr lang="en-US"/>
              <a:t> business objective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menjawab</a:t>
            </a:r>
            <a:r>
              <a:rPr lang="en-US"/>
              <a:t> kesimpulan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83F5D-4CC7-460A-E783-90C79DBD0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C03C-76F3-4592-9FB8-EE870FA32E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12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0F4162C-2F1C-3675-E54A-2148A980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SLIDES_API1134018609_0:notes">
            <a:extLst>
              <a:ext uri="{FF2B5EF4-FFF2-40B4-BE49-F238E27FC236}">
                <a16:creationId xmlns:a16="http://schemas.microsoft.com/office/drawing/2014/main" id="{50E476C3-855E-F90F-3480-233A0B076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1" name="Google Shape;181;SLIDES_API1134018609_0:notes">
            <a:extLst>
              <a:ext uri="{FF2B5EF4-FFF2-40B4-BE49-F238E27FC236}">
                <a16:creationId xmlns:a16="http://schemas.microsoft.com/office/drawing/2014/main" id="{9B8103CF-4E91-C174-E564-8810A5F65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947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>
  <p:cSld name="SA_Introduction_Slide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76200" y="2102578"/>
            <a:ext cx="10239600" cy="5847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976200" y="2972667"/>
            <a:ext cx="10239600" cy="26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33"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0102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SA_Title_Body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0" name="Google Shape;60;p15"/>
          <p:cNvSpPr>
            <a:spLocks noGrp="1"/>
          </p:cNvSpPr>
          <p:nvPr>
            <p:ph type="pic" idx="2"/>
          </p:nvPr>
        </p:nvSpPr>
        <p:spPr>
          <a:xfrm>
            <a:off x="7615677" y="0"/>
            <a:ext cx="45764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842900" y="1013061"/>
            <a:ext cx="672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856933" y="2083333"/>
            <a:ext cx="5783200" cy="26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35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SA_Title_Body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5" name="Google Shape;65;p16"/>
          <p:cNvSpPr>
            <a:spLocks noGrp="1"/>
          </p:cNvSpPr>
          <p:nvPr>
            <p:ph type="pic" idx="2"/>
          </p:nvPr>
        </p:nvSpPr>
        <p:spPr>
          <a:xfrm>
            <a:off x="0" y="133"/>
            <a:ext cx="45764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5513600" y="2126900"/>
            <a:ext cx="5568800" cy="26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5513600" y="867000"/>
            <a:ext cx="56940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5793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1">
  <p:cSld name="Points 2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" name="Google Shape;70;p17"/>
          <p:cNvSpPr>
            <a:spLocks noGrp="1"/>
          </p:cNvSpPr>
          <p:nvPr>
            <p:ph type="pic" idx="2"/>
          </p:nvPr>
        </p:nvSpPr>
        <p:spPr>
          <a:xfrm>
            <a:off x="0" y="0"/>
            <a:ext cx="45764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5513600" y="867000"/>
            <a:ext cx="56940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/>
          <p:nvPr/>
        </p:nvSpPr>
        <p:spPr>
          <a:xfrm>
            <a:off x="5513593" y="2321433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1"/>
          </p:nvPr>
        </p:nvSpPr>
        <p:spPr>
          <a:xfrm>
            <a:off x="6237900" y="22495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5513593" y="36908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3"/>
          </p:nvPr>
        </p:nvSpPr>
        <p:spPr>
          <a:xfrm>
            <a:off x="6237900" y="36351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053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2">
  <p:cSld name="Points 2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8" name="Google Shape;78;p18"/>
          <p:cNvSpPr>
            <a:spLocks noGrp="1"/>
          </p:cNvSpPr>
          <p:nvPr>
            <p:ph type="pic" idx="2"/>
          </p:nvPr>
        </p:nvSpPr>
        <p:spPr>
          <a:xfrm>
            <a:off x="7615551" y="0"/>
            <a:ext cx="45764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856933" y="867000"/>
            <a:ext cx="56940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856927" y="2321433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1581233" y="22495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8"/>
          <p:cNvSpPr txBox="1"/>
          <p:nvPr/>
        </p:nvSpPr>
        <p:spPr>
          <a:xfrm>
            <a:off x="856927" y="36908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3"/>
          </p:nvPr>
        </p:nvSpPr>
        <p:spPr>
          <a:xfrm>
            <a:off x="1581233" y="36351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615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2">
  <p:cSld name="Points 3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6" name="Google Shape;86;p19"/>
          <p:cNvSpPr>
            <a:spLocks noGrp="1"/>
          </p:cNvSpPr>
          <p:nvPr>
            <p:ph type="pic" idx="2"/>
          </p:nvPr>
        </p:nvSpPr>
        <p:spPr>
          <a:xfrm>
            <a:off x="7615551" y="133"/>
            <a:ext cx="45764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856933" y="867000"/>
            <a:ext cx="56940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/>
          <p:nvPr/>
        </p:nvSpPr>
        <p:spPr>
          <a:xfrm>
            <a:off x="856927" y="2321433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1"/>
          </p:nvPr>
        </p:nvSpPr>
        <p:spPr>
          <a:xfrm>
            <a:off x="1581233" y="22495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90" name="Google Shape;90;p19"/>
          <p:cNvSpPr txBox="1"/>
          <p:nvPr/>
        </p:nvSpPr>
        <p:spPr>
          <a:xfrm>
            <a:off x="856927" y="36908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3"/>
          </p:nvPr>
        </p:nvSpPr>
        <p:spPr>
          <a:xfrm>
            <a:off x="1581233" y="36351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856927" y="50764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4"/>
          </p:nvPr>
        </p:nvSpPr>
        <p:spPr>
          <a:xfrm>
            <a:off x="1581233" y="5020700"/>
            <a:ext cx="4969600" cy="12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625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SA_Title_Body_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1"/>
          </p:nvPr>
        </p:nvSpPr>
        <p:spPr>
          <a:xfrm>
            <a:off x="510767" y="2397733"/>
            <a:ext cx="3292000" cy="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2"/>
          </p:nvPr>
        </p:nvSpPr>
        <p:spPr>
          <a:xfrm>
            <a:off x="4379684" y="2397733"/>
            <a:ext cx="32920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510767" y="1286728"/>
            <a:ext cx="1033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8248600" y="2397733"/>
            <a:ext cx="32920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717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SA_Title_Body_1_no_imag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2" name="Google Shape;102;p21"/>
          <p:cNvSpPr txBox="1">
            <a:spLocks noGrp="1"/>
          </p:cNvSpPr>
          <p:nvPr>
            <p:ph type="subTitle" idx="1"/>
          </p:nvPr>
        </p:nvSpPr>
        <p:spPr>
          <a:xfrm>
            <a:off x="510767" y="2175300"/>
            <a:ext cx="10338000" cy="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510767" y="1286728"/>
            <a:ext cx="1033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38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84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1">
  <p:cSld name="Points 3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subTitle" idx="1"/>
          </p:nvPr>
        </p:nvSpPr>
        <p:spPr>
          <a:xfrm>
            <a:off x="8793433" y="3074467"/>
            <a:ext cx="2794800" cy="18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2307800" y="535633"/>
            <a:ext cx="7576400" cy="5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ubTitle" idx="2"/>
          </p:nvPr>
        </p:nvSpPr>
        <p:spPr>
          <a:xfrm>
            <a:off x="623233" y="1859967"/>
            <a:ext cx="2931200" cy="10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subTitle" idx="3"/>
          </p:nvPr>
        </p:nvSpPr>
        <p:spPr>
          <a:xfrm>
            <a:off x="608933" y="4540100"/>
            <a:ext cx="3148800" cy="11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/>
          <p:nvPr/>
        </p:nvSpPr>
        <p:spPr>
          <a:xfrm>
            <a:off x="5463052" y="1749402"/>
            <a:ext cx="2755849" cy="2762717"/>
          </a:xfrm>
          <a:custGeom>
            <a:avLst/>
            <a:gdLst/>
            <a:ahLst/>
            <a:cxnLst/>
            <a:rect l="l" t="t" r="r" b="b"/>
            <a:pathLst>
              <a:path w="958" h="1016" extrusionOk="0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46067" tIns="73033" rIns="146067" bIns="730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33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4" name="Google Shape;114;p24"/>
          <p:cNvSpPr/>
          <p:nvPr/>
        </p:nvSpPr>
        <p:spPr>
          <a:xfrm>
            <a:off x="3973100" y="1760889"/>
            <a:ext cx="2929685" cy="2563983"/>
          </a:xfrm>
          <a:custGeom>
            <a:avLst/>
            <a:gdLst/>
            <a:ahLst/>
            <a:cxnLst/>
            <a:rect l="l" t="t" r="r" b="b"/>
            <a:pathLst>
              <a:path w="1018" h="943" extrusionOk="0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46067" tIns="73033" rIns="146067" bIns="730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33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5" name="Google Shape;115;p24"/>
          <p:cNvSpPr/>
          <p:nvPr/>
        </p:nvSpPr>
        <p:spPr>
          <a:xfrm>
            <a:off x="4697199" y="2834959"/>
            <a:ext cx="2935764" cy="2754675"/>
          </a:xfrm>
          <a:custGeom>
            <a:avLst/>
            <a:gdLst/>
            <a:ahLst/>
            <a:cxnLst/>
            <a:rect l="l" t="t" r="r" b="b"/>
            <a:pathLst>
              <a:path w="1020" h="1013" extrusionOk="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46067" tIns="73033" rIns="146067" bIns="730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33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4583104" y="2316567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4"/>
          <p:cNvSpPr txBox="1"/>
          <p:nvPr/>
        </p:nvSpPr>
        <p:spPr>
          <a:xfrm>
            <a:off x="7230504" y="2917800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4"/>
          <p:cNvSpPr txBox="1"/>
          <p:nvPr/>
        </p:nvSpPr>
        <p:spPr>
          <a:xfrm>
            <a:off x="5292704" y="4540100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47453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1">
  <p:cSld name="Points 4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>
            <a:off x="4049051" y="1818704"/>
            <a:ext cx="2026616" cy="2622093"/>
          </a:xfrm>
          <a:custGeom>
            <a:avLst/>
            <a:gdLst/>
            <a:ahLst/>
            <a:cxnLst/>
            <a:rect l="l" t="t" r="r" b="b"/>
            <a:pathLst>
              <a:path w="4983482" h="6447770" extrusionOk="0">
                <a:moveTo>
                  <a:pt x="4983482" y="0"/>
                </a:moveTo>
                <a:lnTo>
                  <a:pt x="4983482" y="1152"/>
                </a:lnTo>
                <a:lnTo>
                  <a:pt x="4884042" y="6173"/>
                </a:lnTo>
                <a:cubicBezTo>
                  <a:pt x="4168136" y="78877"/>
                  <a:pt x="3609474" y="683482"/>
                  <a:pt x="3609474" y="1418570"/>
                </a:cubicBezTo>
                <a:cubicBezTo>
                  <a:pt x="3609474" y="2107715"/>
                  <a:pt x="4100486" y="2682178"/>
                  <a:pt x="4751750" y="2811200"/>
                </a:cubicBezTo>
                <a:lnTo>
                  <a:pt x="4877001" y="2829915"/>
                </a:lnTo>
                <a:lnTo>
                  <a:pt x="4799835" y="2833812"/>
                </a:lnTo>
                <a:cubicBezTo>
                  <a:pt x="3688520" y="2946672"/>
                  <a:pt x="2821298" y="3885212"/>
                  <a:pt x="2821298" y="5026303"/>
                </a:cubicBezTo>
                <a:lnTo>
                  <a:pt x="2829563" y="5189982"/>
                </a:lnTo>
                <a:lnTo>
                  <a:pt x="2810610" y="5314168"/>
                </a:lnTo>
                <a:cubicBezTo>
                  <a:pt x="2678226" y="5961114"/>
                  <a:pt x="2105809" y="6447770"/>
                  <a:pt x="1419727" y="6447770"/>
                </a:cubicBezTo>
                <a:cubicBezTo>
                  <a:pt x="635633" y="6447770"/>
                  <a:pt x="0" y="5812137"/>
                  <a:pt x="0" y="5028043"/>
                </a:cubicBezTo>
                <a:lnTo>
                  <a:pt x="2309" y="4982324"/>
                </a:lnTo>
                <a:lnTo>
                  <a:pt x="1157" y="4982324"/>
                </a:lnTo>
                <a:lnTo>
                  <a:pt x="6545" y="4769242"/>
                </a:lnTo>
                <a:cubicBezTo>
                  <a:pt x="136898" y="2197684"/>
                  <a:pt x="2198840" y="135741"/>
                  <a:pt x="4770399" y="5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5517387" y="1818233"/>
            <a:ext cx="2622093" cy="2026616"/>
          </a:xfrm>
          <a:custGeom>
            <a:avLst/>
            <a:gdLst/>
            <a:ahLst/>
            <a:cxnLst/>
            <a:rect l="l" t="t" r="r" b="b"/>
            <a:pathLst>
              <a:path w="6447769" h="4983482" extrusionOk="0">
                <a:moveTo>
                  <a:pt x="1419727" y="0"/>
                </a:moveTo>
                <a:lnTo>
                  <a:pt x="1465447" y="2309"/>
                </a:lnTo>
                <a:lnTo>
                  <a:pt x="1465447" y="1157"/>
                </a:lnTo>
                <a:lnTo>
                  <a:pt x="1678528" y="6545"/>
                </a:lnTo>
                <a:cubicBezTo>
                  <a:pt x="4250087" y="136898"/>
                  <a:pt x="6312029" y="2198841"/>
                  <a:pt x="6442381" y="4770399"/>
                </a:cubicBezTo>
                <a:lnTo>
                  <a:pt x="6447769" y="4983482"/>
                </a:lnTo>
                <a:lnTo>
                  <a:pt x="6446619" y="4983482"/>
                </a:lnTo>
                <a:lnTo>
                  <a:pt x="6441597" y="4884041"/>
                </a:lnTo>
                <a:cubicBezTo>
                  <a:pt x="6368893" y="4168135"/>
                  <a:pt x="5764288" y="3609473"/>
                  <a:pt x="5029200" y="3609473"/>
                </a:cubicBezTo>
                <a:cubicBezTo>
                  <a:pt x="4294112" y="3609473"/>
                  <a:pt x="3689507" y="4168135"/>
                  <a:pt x="3616803" y="4884041"/>
                </a:cubicBezTo>
                <a:lnTo>
                  <a:pt x="3614562" y="4928423"/>
                </a:lnTo>
                <a:lnTo>
                  <a:pt x="3608185" y="4802127"/>
                </a:lnTo>
                <a:cubicBezTo>
                  <a:pt x="3495325" y="3690812"/>
                  <a:pt x="2556784" y="2823590"/>
                  <a:pt x="1415693" y="2823590"/>
                </a:cubicBezTo>
                <a:lnTo>
                  <a:pt x="1267636" y="2831067"/>
                </a:lnTo>
                <a:lnTo>
                  <a:pt x="1133602" y="2810611"/>
                </a:lnTo>
                <a:cubicBezTo>
                  <a:pt x="486657" y="2678226"/>
                  <a:pt x="0" y="2105810"/>
                  <a:pt x="0" y="1419727"/>
                </a:cubicBezTo>
                <a:cubicBezTo>
                  <a:pt x="0" y="635633"/>
                  <a:pt x="635633" y="0"/>
                  <a:pt x="14197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4049522" y="3882165"/>
            <a:ext cx="2622093" cy="2026616"/>
          </a:xfrm>
          <a:custGeom>
            <a:avLst/>
            <a:gdLst/>
            <a:ahLst/>
            <a:cxnLst/>
            <a:rect l="l" t="t" r="r" b="b"/>
            <a:pathLst>
              <a:path w="6447771" h="4983481" extrusionOk="0">
                <a:moveTo>
                  <a:pt x="0" y="0"/>
                </a:moveTo>
                <a:lnTo>
                  <a:pt x="1152" y="0"/>
                </a:lnTo>
                <a:lnTo>
                  <a:pt x="6173" y="99439"/>
                </a:lnTo>
                <a:cubicBezTo>
                  <a:pt x="78877" y="815345"/>
                  <a:pt x="683482" y="1374007"/>
                  <a:pt x="1418570" y="1374007"/>
                </a:cubicBezTo>
                <a:cubicBezTo>
                  <a:pt x="2107715" y="1374007"/>
                  <a:pt x="2682178" y="882996"/>
                  <a:pt x="2811200" y="231731"/>
                </a:cubicBezTo>
                <a:lnTo>
                  <a:pt x="2828419" y="116492"/>
                </a:lnTo>
                <a:lnTo>
                  <a:pt x="2831519" y="177872"/>
                </a:lnTo>
                <a:cubicBezTo>
                  <a:pt x="2944379" y="1289187"/>
                  <a:pt x="3882919" y="2156409"/>
                  <a:pt x="5024010" y="2156409"/>
                </a:cubicBezTo>
                <a:lnTo>
                  <a:pt x="5148631" y="2150116"/>
                </a:lnTo>
                <a:lnTo>
                  <a:pt x="5173203" y="2151357"/>
                </a:lnTo>
                <a:cubicBezTo>
                  <a:pt x="5889109" y="2224061"/>
                  <a:pt x="6447771" y="2828666"/>
                  <a:pt x="6447771" y="3563754"/>
                </a:cubicBezTo>
                <a:cubicBezTo>
                  <a:pt x="6447771" y="4347848"/>
                  <a:pt x="5812138" y="4983481"/>
                  <a:pt x="5028044" y="4983481"/>
                </a:cubicBezTo>
                <a:lnTo>
                  <a:pt x="4982325" y="4981172"/>
                </a:lnTo>
                <a:lnTo>
                  <a:pt x="4982325" y="4982324"/>
                </a:lnTo>
                <a:lnTo>
                  <a:pt x="4769242" y="4976936"/>
                </a:lnTo>
                <a:cubicBezTo>
                  <a:pt x="2197683" y="4846583"/>
                  <a:pt x="135741" y="2784641"/>
                  <a:pt x="5388" y="213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6113531" y="3286179"/>
            <a:ext cx="2026615" cy="2622093"/>
          </a:xfrm>
          <a:custGeom>
            <a:avLst/>
            <a:gdLst/>
            <a:ahLst/>
            <a:cxnLst/>
            <a:rect l="l" t="t" r="r" b="b"/>
            <a:pathLst>
              <a:path w="4983480" h="6447772" extrusionOk="0">
                <a:moveTo>
                  <a:pt x="3563753" y="0"/>
                </a:moveTo>
                <a:cubicBezTo>
                  <a:pt x="4347847" y="0"/>
                  <a:pt x="4983480" y="635633"/>
                  <a:pt x="4983480" y="1419727"/>
                </a:cubicBezTo>
                <a:lnTo>
                  <a:pt x="4981172" y="1465449"/>
                </a:lnTo>
                <a:lnTo>
                  <a:pt x="4982322" y="1465449"/>
                </a:lnTo>
                <a:lnTo>
                  <a:pt x="4976934" y="1678530"/>
                </a:lnTo>
                <a:cubicBezTo>
                  <a:pt x="4846582" y="4250089"/>
                  <a:pt x="2784640" y="6312031"/>
                  <a:pt x="213081" y="6442384"/>
                </a:cubicBezTo>
                <a:lnTo>
                  <a:pt x="0" y="6447772"/>
                </a:lnTo>
                <a:lnTo>
                  <a:pt x="0" y="6446619"/>
                </a:lnTo>
                <a:lnTo>
                  <a:pt x="99439" y="6441598"/>
                </a:lnTo>
                <a:cubicBezTo>
                  <a:pt x="815345" y="6368894"/>
                  <a:pt x="1374007" y="5764289"/>
                  <a:pt x="1374007" y="5029201"/>
                </a:cubicBezTo>
                <a:cubicBezTo>
                  <a:pt x="1374007" y="4294113"/>
                  <a:pt x="815345" y="3689508"/>
                  <a:pt x="99439" y="3616804"/>
                </a:cubicBezTo>
                <a:lnTo>
                  <a:pt x="74876" y="3615564"/>
                </a:lnTo>
                <a:lnTo>
                  <a:pt x="175579" y="3610479"/>
                </a:lnTo>
                <a:cubicBezTo>
                  <a:pt x="1286894" y="3497619"/>
                  <a:pt x="2154116" y="2559078"/>
                  <a:pt x="2154116" y="1417987"/>
                </a:cubicBezTo>
                <a:lnTo>
                  <a:pt x="2149115" y="1318948"/>
                </a:lnTo>
                <a:lnTo>
                  <a:pt x="2151356" y="1274568"/>
                </a:lnTo>
                <a:cubicBezTo>
                  <a:pt x="2224060" y="558662"/>
                  <a:pt x="2828665" y="0"/>
                  <a:pt x="35637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1"/>
          </p:nvPr>
        </p:nvSpPr>
        <p:spPr>
          <a:xfrm>
            <a:off x="623233" y="1859967"/>
            <a:ext cx="293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/>
          <p:nvPr/>
        </p:nvSpPr>
        <p:spPr>
          <a:xfrm>
            <a:off x="4320137" y="3523367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5740721" y="2149167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7228804" y="3523367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5740721" y="5089667"/>
            <a:ext cx="709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667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subTitle" idx="2"/>
          </p:nvPr>
        </p:nvSpPr>
        <p:spPr>
          <a:xfrm>
            <a:off x="623233" y="4128567"/>
            <a:ext cx="293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3"/>
          </p:nvPr>
        </p:nvSpPr>
        <p:spPr>
          <a:xfrm>
            <a:off x="8403900" y="1859967"/>
            <a:ext cx="3036400" cy="16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4"/>
          </p:nvPr>
        </p:nvSpPr>
        <p:spPr>
          <a:xfrm>
            <a:off x="8403900" y="4128567"/>
            <a:ext cx="3036400" cy="16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733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1660200" y="535633"/>
            <a:ext cx="8871600" cy="5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714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2">
  <p:cSld name="Points 4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4979693" y="1705200"/>
            <a:ext cx="2211187" cy="2184768"/>
          </a:xfrm>
          <a:custGeom>
            <a:avLst/>
            <a:gdLst/>
            <a:ahLst/>
            <a:cxnLst/>
            <a:rect l="l" t="t" r="r" b="b"/>
            <a:pathLst>
              <a:path w="21429" h="20851" extrusionOk="0">
                <a:moveTo>
                  <a:pt x="1" y="10736"/>
                </a:moveTo>
                <a:cubicBezTo>
                  <a:pt x="-74" y="5791"/>
                  <a:pt x="3035" y="2106"/>
                  <a:pt x="7007" y="666"/>
                </a:cubicBezTo>
                <a:cubicBezTo>
                  <a:pt x="10907" y="-749"/>
                  <a:pt x="15586" y="18"/>
                  <a:pt x="18852" y="3666"/>
                </a:cubicBezTo>
                <a:cubicBezTo>
                  <a:pt x="19974" y="4919"/>
                  <a:pt x="20705" y="6356"/>
                  <a:pt x="21094" y="7850"/>
                </a:cubicBezTo>
                <a:cubicBezTo>
                  <a:pt x="21476" y="9323"/>
                  <a:pt x="21526" y="10854"/>
                  <a:pt x="21272" y="12327"/>
                </a:cubicBezTo>
                <a:cubicBezTo>
                  <a:pt x="20780" y="15178"/>
                  <a:pt x="19147" y="17844"/>
                  <a:pt x="16446" y="19576"/>
                </a:cubicBezTo>
                <a:lnTo>
                  <a:pt x="17659" y="20851"/>
                </a:lnTo>
                <a:lnTo>
                  <a:pt x="11189" y="20851"/>
                </a:lnTo>
                <a:lnTo>
                  <a:pt x="11189" y="14426"/>
                </a:lnTo>
                <a:lnTo>
                  <a:pt x="12489" y="15726"/>
                </a:lnTo>
                <a:cubicBezTo>
                  <a:pt x="14377" y="15044"/>
                  <a:pt x="15587" y="13538"/>
                  <a:pt x="16008" y="11843"/>
                </a:cubicBezTo>
                <a:cubicBezTo>
                  <a:pt x="16411" y="10218"/>
                  <a:pt x="16091" y="8391"/>
                  <a:pt x="14774" y="6995"/>
                </a:cubicBezTo>
                <a:cubicBezTo>
                  <a:pt x="12838" y="4944"/>
                  <a:pt x="10165" y="4773"/>
                  <a:pt x="8134" y="5864"/>
                </a:cubicBezTo>
                <a:cubicBezTo>
                  <a:pt x="7076" y="6433"/>
                  <a:pt x="6213" y="7336"/>
                  <a:pt x="5717" y="8432"/>
                </a:cubicBezTo>
                <a:cubicBezTo>
                  <a:pt x="5210" y="9552"/>
                  <a:pt x="5082" y="10878"/>
                  <a:pt x="5520" y="12293"/>
                </a:cubicBezTo>
                <a:cubicBezTo>
                  <a:pt x="4660" y="11758"/>
                  <a:pt x="3725" y="11352"/>
                  <a:pt x="2745" y="11089"/>
                </a:cubicBezTo>
                <a:cubicBezTo>
                  <a:pt x="1851" y="10849"/>
                  <a:pt x="928" y="10730"/>
                  <a:pt x="1" y="107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8491567" y="1859967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3869516" y="2826404"/>
            <a:ext cx="2164435" cy="2220875"/>
          </a:xfrm>
          <a:custGeom>
            <a:avLst/>
            <a:gdLst/>
            <a:ahLst/>
            <a:cxnLst/>
            <a:rect l="l" t="t" r="r" b="b"/>
            <a:pathLst>
              <a:path w="21501" h="20867" extrusionOk="0">
                <a:moveTo>
                  <a:pt x="21501" y="3787"/>
                </a:moveTo>
                <a:lnTo>
                  <a:pt x="21501" y="9990"/>
                </a:lnTo>
                <a:lnTo>
                  <a:pt x="14929" y="9990"/>
                </a:lnTo>
                <a:lnTo>
                  <a:pt x="16281" y="8704"/>
                </a:lnTo>
                <a:cubicBezTo>
                  <a:pt x="14580" y="4140"/>
                  <a:pt x="7864" y="3920"/>
                  <a:pt x="5837" y="8362"/>
                </a:cubicBezTo>
                <a:cubicBezTo>
                  <a:pt x="4878" y="10464"/>
                  <a:pt x="5470" y="12605"/>
                  <a:pt x="6862" y="14040"/>
                </a:cubicBezTo>
                <a:cubicBezTo>
                  <a:pt x="8248" y="15468"/>
                  <a:pt x="10429" y="16200"/>
                  <a:pt x="12713" y="15502"/>
                </a:cubicBezTo>
                <a:cubicBezTo>
                  <a:pt x="12159" y="16331"/>
                  <a:pt x="11733" y="17232"/>
                  <a:pt x="11448" y="18175"/>
                </a:cubicBezTo>
                <a:cubicBezTo>
                  <a:pt x="11183" y="19051"/>
                  <a:pt x="11042" y="19956"/>
                  <a:pt x="11027" y="20867"/>
                </a:cubicBezTo>
                <a:cubicBezTo>
                  <a:pt x="7844" y="20900"/>
                  <a:pt x="4992" y="19642"/>
                  <a:pt x="2992" y="17624"/>
                </a:cubicBezTo>
                <a:cubicBezTo>
                  <a:pt x="1979" y="16603"/>
                  <a:pt x="1184" y="15386"/>
                  <a:pt x="666" y="14048"/>
                </a:cubicBezTo>
                <a:cubicBezTo>
                  <a:pt x="145" y="12705"/>
                  <a:pt x="-99" y="11235"/>
                  <a:pt x="38" y="9702"/>
                </a:cubicBezTo>
                <a:cubicBezTo>
                  <a:pt x="256" y="7262"/>
                  <a:pt x="1257" y="5184"/>
                  <a:pt x="2727" y="3588"/>
                </a:cubicBezTo>
                <a:cubicBezTo>
                  <a:pt x="4232" y="1956"/>
                  <a:pt x="6226" y="831"/>
                  <a:pt x="8406" y="316"/>
                </a:cubicBezTo>
                <a:cubicBezTo>
                  <a:pt x="12706" y="-700"/>
                  <a:pt x="17572" y="711"/>
                  <a:pt x="20335" y="4861"/>
                </a:cubicBezTo>
                <a:lnTo>
                  <a:pt x="21501" y="378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6135963" y="2826804"/>
            <a:ext cx="2186485" cy="2220831"/>
          </a:xfrm>
          <a:custGeom>
            <a:avLst/>
            <a:gdLst/>
            <a:ahLst/>
            <a:cxnLst/>
            <a:rect l="l" t="t" r="r" b="b"/>
            <a:pathLst>
              <a:path w="21467" h="21208" extrusionOk="0">
                <a:moveTo>
                  <a:pt x="10372" y="3"/>
                </a:moveTo>
                <a:cubicBezTo>
                  <a:pt x="10348" y="975"/>
                  <a:pt x="10194" y="1941"/>
                  <a:pt x="9914" y="2875"/>
                </a:cubicBezTo>
                <a:cubicBezTo>
                  <a:pt x="9631" y="3818"/>
                  <a:pt x="9222" y="4720"/>
                  <a:pt x="8697" y="5558"/>
                </a:cubicBezTo>
                <a:cubicBezTo>
                  <a:pt x="10843" y="4811"/>
                  <a:pt x="12957" y="5403"/>
                  <a:pt x="14390" y="6707"/>
                </a:cubicBezTo>
                <a:cubicBezTo>
                  <a:pt x="15803" y="7993"/>
                  <a:pt x="16564" y="9984"/>
                  <a:pt x="15935" y="12092"/>
                </a:cubicBezTo>
                <a:cubicBezTo>
                  <a:pt x="15185" y="14609"/>
                  <a:pt x="13018" y="15950"/>
                  <a:pt x="10791" y="16004"/>
                </a:cubicBezTo>
                <a:cubicBezTo>
                  <a:pt x="9683" y="16031"/>
                  <a:pt x="8573" y="15737"/>
                  <a:pt x="7616" y="15155"/>
                </a:cubicBezTo>
                <a:cubicBezTo>
                  <a:pt x="6612" y="14545"/>
                  <a:pt x="5769" y="13615"/>
                  <a:pt x="5249" y="12354"/>
                </a:cubicBezTo>
                <a:lnTo>
                  <a:pt x="6505" y="11107"/>
                </a:lnTo>
                <a:lnTo>
                  <a:pt x="0" y="11107"/>
                </a:lnTo>
                <a:lnTo>
                  <a:pt x="0" y="17436"/>
                </a:lnTo>
                <a:lnTo>
                  <a:pt x="1358" y="16110"/>
                </a:lnTo>
                <a:cubicBezTo>
                  <a:pt x="3668" y="19863"/>
                  <a:pt x="7726" y="21521"/>
                  <a:pt x="11614" y="21159"/>
                </a:cubicBezTo>
                <a:cubicBezTo>
                  <a:pt x="13439" y="20989"/>
                  <a:pt x="15221" y="20372"/>
                  <a:pt x="16771" y="19348"/>
                </a:cubicBezTo>
                <a:cubicBezTo>
                  <a:pt x="18313" y="18329"/>
                  <a:pt x="19638" y="16901"/>
                  <a:pt x="20512" y="15040"/>
                </a:cubicBezTo>
                <a:cubicBezTo>
                  <a:pt x="21361" y="13233"/>
                  <a:pt x="21600" y="11358"/>
                  <a:pt x="21401" y="9578"/>
                </a:cubicBezTo>
                <a:cubicBezTo>
                  <a:pt x="21204" y="7817"/>
                  <a:pt x="20575" y="6137"/>
                  <a:pt x="19586" y="4691"/>
                </a:cubicBezTo>
                <a:cubicBezTo>
                  <a:pt x="17644" y="1852"/>
                  <a:pt x="14322" y="-79"/>
                  <a:pt x="10372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4977396" y="3987570"/>
            <a:ext cx="2216539" cy="2186348"/>
          </a:xfrm>
          <a:custGeom>
            <a:avLst/>
            <a:gdLst/>
            <a:ahLst/>
            <a:cxnLst/>
            <a:rect l="l" t="t" r="r" b="b"/>
            <a:pathLst>
              <a:path w="21501" h="21446" extrusionOk="0">
                <a:moveTo>
                  <a:pt x="3765" y="0"/>
                </a:moveTo>
                <a:lnTo>
                  <a:pt x="10283" y="0"/>
                </a:lnTo>
                <a:lnTo>
                  <a:pt x="10283" y="6590"/>
                </a:lnTo>
                <a:lnTo>
                  <a:pt x="8990" y="5343"/>
                </a:lnTo>
                <a:cubicBezTo>
                  <a:pt x="7519" y="5878"/>
                  <a:pt x="6512" y="6832"/>
                  <a:pt x="5929" y="7968"/>
                </a:cubicBezTo>
                <a:cubicBezTo>
                  <a:pt x="5337" y="9121"/>
                  <a:pt x="5179" y="10464"/>
                  <a:pt x="5446" y="11727"/>
                </a:cubicBezTo>
                <a:cubicBezTo>
                  <a:pt x="5970" y="14204"/>
                  <a:pt x="8090" y="16272"/>
                  <a:pt x="11243" y="16062"/>
                </a:cubicBezTo>
                <a:cubicBezTo>
                  <a:pt x="12115" y="16003"/>
                  <a:pt x="12895" y="15724"/>
                  <a:pt x="13572" y="15302"/>
                </a:cubicBezTo>
                <a:cubicBezTo>
                  <a:pt x="14286" y="14856"/>
                  <a:pt x="14889" y="14248"/>
                  <a:pt x="15335" y="13548"/>
                </a:cubicBezTo>
                <a:cubicBezTo>
                  <a:pt x="16207" y="12178"/>
                  <a:pt x="16504" y="10431"/>
                  <a:pt x="15928" y="8703"/>
                </a:cubicBezTo>
                <a:cubicBezTo>
                  <a:pt x="16792" y="9263"/>
                  <a:pt x="17732" y="9692"/>
                  <a:pt x="18718" y="9979"/>
                </a:cubicBezTo>
                <a:cubicBezTo>
                  <a:pt x="19623" y="10242"/>
                  <a:pt x="20559" y="10383"/>
                  <a:pt x="21501" y="10396"/>
                </a:cubicBezTo>
                <a:cubicBezTo>
                  <a:pt x="21505" y="12780"/>
                  <a:pt x="20816" y="14901"/>
                  <a:pt x="19662" y="16639"/>
                </a:cubicBezTo>
                <a:cubicBezTo>
                  <a:pt x="18516" y="18366"/>
                  <a:pt x="16908" y="19721"/>
                  <a:pt x="15053" y="20543"/>
                </a:cubicBezTo>
                <a:cubicBezTo>
                  <a:pt x="13325" y="21308"/>
                  <a:pt x="11408" y="21600"/>
                  <a:pt x="9505" y="21369"/>
                </a:cubicBezTo>
                <a:cubicBezTo>
                  <a:pt x="7408" y="21114"/>
                  <a:pt x="5325" y="20227"/>
                  <a:pt x="3541" y="18603"/>
                </a:cubicBezTo>
                <a:cubicBezTo>
                  <a:pt x="2210" y="17392"/>
                  <a:pt x="1279" y="15930"/>
                  <a:pt x="702" y="14376"/>
                </a:cubicBezTo>
                <a:cubicBezTo>
                  <a:pt x="131" y="12837"/>
                  <a:pt x="-95" y="11201"/>
                  <a:pt x="36" y="9594"/>
                </a:cubicBezTo>
                <a:cubicBezTo>
                  <a:pt x="300" y="6352"/>
                  <a:pt x="2013" y="3238"/>
                  <a:pt x="5065" y="1365"/>
                </a:cubicBezTo>
                <a:lnTo>
                  <a:pt x="3765" y="0"/>
                </a:lnTo>
                <a:close/>
              </a:path>
            </a:pathLst>
          </a:custGeom>
          <a:solidFill>
            <a:srgbClr val="437DB2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4981741" y="2557153"/>
            <a:ext cx="565011" cy="421776"/>
          </a:xfrm>
          <a:custGeom>
            <a:avLst/>
            <a:gdLst/>
            <a:ahLst/>
            <a:cxnLst/>
            <a:rect l="l" t="t" r="r" b="b"/>
            <a:pathLst>
              <a:path w="21579" h="21600" extrusionOk="0">
                <a:moveTo>
                  <a:pt x="21579" y="21600"/>
                </a:moveTo>
                <a:cubicBezTo>
                  <a:pt x="20965" y="19090"/>
                  <a:pt x="20631" y="16471"/>
                  <a:pt x="20586" y="13829"/>
                </a:cubicBezTo>
                <a:cubicBezTo>
                  <a:pt x="20543" y="11244"/>
                  <a:pt x="20778" y="8664"/>
                  <a:pt x="21284" y="6170"/>
                </a:cubicBezTo>
                <a:cubicBezTo>
                  <a:pt x="18128" y="4224"/>
                  <a:pt x="14832" y="2720"/>
                  <a:pt x="11448" y="1683"/>
                </a:cubicBezTo>
                <a:cubicBezTo>
                  <a:pt x="8066" y="648"/>
                  <a:pt x="4614" y="84"/>
                  <a:pt x="1146" y="0"/>
                </a:cubicBezTo>
                <a:cubicBezTo>
                  <a:pt x="743" y="2263"/>
                  <a:pt x="445" y="4557"/>
                  <a:pt x="254" y="6870"/>
                </a:cubicBezTo>
                <a:cubicBezTo>
                  <a:pt x="62" y="9193"/>
                  <a:pt x="-21" y="11531"/>
                  <a:pt x="5" y="13868"/>
                </a:cubicBezTo>
                <a:cubicBezTo>
                  <a:pt x="3936" y="13809"/>
                  <a:pt x="7854" y="14499"/>
                  <a:pt x="11642" y="15919"/>
                </a:cubicBezTo>
                <a:cubicBezTo>
                  <a:pt x="15124" y="17224"/>
                  <a:pt x="18464" y="19134"/>
                  <a:pt x="21579" y="216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4710380" y="4477241"/>
            <a:ext cx="434016" cy="568679"/>
          </a:xfrm>
          <a:custGeom>
            <a:avLst/>
            <a:gdLst/>
            <a:ahLst/>
            <a:cxnLst/>
            <a:rect l="l" t="t" r="r" b="b"/>
            <a:pathLst>
              <a:path w="21600" h="21579" extrusionOk="0">
                <a:moveTo>
                  <a:pt x="21600" y="0"/>
                </a:moveTo>
                <a:cubicBezTo>
                  <a:pt x="19109" y="597"/>
                  <a:pt x="16522" y="932"/>
                  <a:pt x="13913" y="995"/>
                </a:cubicBezTo>
                <a:cubicBezTo>
                  <a:pt x="11327" y="1058"/>
                  <a:pt x="8742" y="853"/>
                  <a:pt x="6227" y="387"/>
                </a:cubicBezTo>
                <a:cubicBezTo>
                  <a:pt x="4357" y="3529"/>
                  <a:pt x="2888" y="6802"/>
                  <a:pt x="1843" y="10161"/>
                </a:cubicBezTo>
                <a:cubicBezTo>
                  <a:pt x="803" y="13498"/>
                  <a:pt x="186" y="16905"/>
                  <a:pt x="0" y="20333"/>
                </a:cubicBezTo>
                <a:cubicBezTo>
                  <a:pt x="2248" y="20780"/>
                  <a:pt x="4534" y="21109"/>
                  <a:pt x="6842" y="21316"/>
                </a:cubicBezTo>
                <a:cubicBezTo>
                  <a:pt x="9039" y="21513"/>
                  <a:pt x="11250" y="21600"/>
                  <a:pt x="13462" y="21575"/>
                </a:cubicBezTo>
                <a:cubicBezTo>
                  <a:pt x="13546" y="17890"/>
                  <a:pt x="14247" y="14228"/>
                  <a:pt x="15549" y="10679"/>
                </a:cubicBezTo>
                <a:cubicBezTo>
                  <a:pt x="16926" y="6926"/>
                  <a:pt x="18961" y="3334"/>
                  <a:pt x="216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6620332" y="4872441"/>
            <a:ext cx="569553" cy="449928"/>
          </a:xfrm>
          <a:custGeom>
            <a:avLst/>
            <a:gdLst/>
            <a:ahLst/>
            <a:cxnLst/>
            <a:rect l="l" t="t" r="r" b="b"/>
            <a:pathLst>
              <a:path w="21574" h="21600" extrusionOk="0">
                <a:moveTo>
                  <a:pt x="21568" y="8485"/>
                </a:moveTo>
                <a:cubicBezTo>
                  <a:pt x="21600" y="10739"/>
                  <a:pt x="21515" y="12993"/>
                  <a:pt x="21313" y="15232"/>
                </a:cubicBezTo>
                <a:cubicBezTo>
                  <a:pt x="21120" y="17377"/>
                  <a:pt x="20820" y="19504"/>
                  <a:pt x="20415" y="21600"/>
                </a:cubicBezTo>
                <a:cubicBezTo>
                  <a:pt x="17022" y="21426"/>
                  <a:pt x="13651" y="20820"/>
                  <a:pt x="10352" y="19792"/>
                </a:cubicBezTo>
                <a:cubicBezTo>
                  <a:pt x="7008" y="18749"/>
                  <a:pt x="3756" y="17277"/>
                  <a:pt x="646" y="15398"/>
                </a:cubicBezTo>
                <a:cubicBezTo>
                  <a:pt x="1044" y="12939"/>
                  <a:pt x="1202" y="10426"/>
                  <a:pt x="1114" y="7918"/>
                </a:cubicBezTo>
                <a:cubicBezTo>
                  <a:pt x="1020" y="5228"/>
                  <a:pt x="646" y="2565"/>
                  <a:pt x="0" y="0"/>
                </a:cubicBezTo>
                <a:cubicBezTo>
                  <a:pt x="3333" y="2760"/>
                  <a:pt x="6962" y="4892"/>
                  <a:pt x="10774" y="6331"/>
                </a:cubicBezTo>
                <a:cubicBezTo>
                  <a:pt x="14281" y="7655"/>
                  <a:pt x="17911" y="8379"/>
                  <a:pt x="21568" y="8485"/>
                </a:cubicBezTo>
                <a:close/>
              </a:path>
            </a:pathLst>
          </a:custGeom>
          <a:solidFill>
            <a:srgbClr val="325D8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7017628" y="2826432"/>
            <a:ext cx="443520" cy="582641"/>
          </a:xfrm>
          <a:custGeom>
            <a:avLst/>
            <a:gdLst/>
            <a:ahLst/>
            <a:cxnLst/>
            <a:rect l="l" t="t" r="r" b="b"/>
            <a:pathLst>
              <a:path w="21600" h="21566" extrusionOk="0">
                <a:moveTo>
                  <a:pt x="21600" y="971"/>
                </a:moveTo>
                <a:cubicBezTo>
                  <a:pt x="21515" y="4369"/>
                  <a:pt x="20965" y="7751"/>
                  <a:pt x="19961" y="11062"/>
                </a:cubicBezTo>
                <a:cubicBezTo>
                  <a:pt x="18948" y="14404"/>
                  <a:pt x="17476" y="17656"/>
                  <a:pt x="15571" y="20764"/>
                </a:cubicBezTo>
                <a:cubicBezTo>
                  <a:pt x="13115" y="20381"/>
                  <a:pt x="10605" y="20240"/>
                  <a:pt x="8102" y="20343"/>
                </a:cubicBezTo>
                <a:cubicBezTo>
                  <a:pt x="5339" y="20458"/>
                  <a:pt x="2612" y="20869"/>
                  <a:pt x="0" y="21566"/>
                </a:cubicBezTo>
                <a:cubicBezTo>
                  <a:pt x="2626" y="18367"/>
                  <a:pt x="4673" y="14912"/>
                  <a:pt x="6083" y="11294"/>
                </a:cubicBezTo>
                <a:cubicBezTo>
                  <a:pt x="7509" y="7635"/>
                  <a:pt x="8272" y="3844"/>
                  <a:pt x="8350" y="27"/>
                </a:cubicBezTo>
                <a:cubicBezTo>
                  <a:pt x="10487" y="-34"/>
                  <a:pt x="12628" y="8"/>
                  <a:pt x="14759" y="151"/>
                </a:cubicBezTo>
                <a:cubicBezTo>
                  <a:pt x="17061" y="306"/>
                  <a:pt x="19346" y="580"/>
                  <a:pt x="21600" y="9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891308" y="2591035"/>
            <a:ext cx="427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849901" y="4903757"/>
            <a:ext cx="50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992579" y="3759833"/>
            <a:ext cx="49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662791" y="3759833"/>
            <a:ext cx="5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2"/>
          </p:nvPr>
        </p:nvSpPr>
        <p:spPr>
          <a:xfrm>
            <a:off x="8491567" y="4429300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subTitle" idx="3"/>
          </p:nvPr>
        </p:nvSpPr>
        <p:spPr>
          <a:xfrm>
            <a:off x="627633" y="1859967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subTitle" idx="4"/>
          </p:nvPr>
        </p:nvSpPr>
        <p:spPr>
          <a:xfrm>
            <a:off x="627633" y="4429300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1660200" y="535633"/>
            <a:ext cx="8871600" cy="5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6668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5_1">
  <p:cSld name="Points 5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subTitle" idx="1"/>
          </p:nvPr>
        </p:nvSpPr>
        <p:spPr>
          <a:xfrm>
            <a:off x="8473167" y="1577533"/>
            <a:ext cx="3091200" cy="1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2"/>
          </p:nvPr>
        </p:nvSpPr>
        <p:spPr>
          <a:xfrm>
            <a:off x="8473167" y="3199133"/>
            <a:ext cx="3091200" cy="1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3"/>
          </p:nvPr>
        </p:nvSpPr>
        <p:spPr>
          <a:xfrm>
            <a:off x="609233" y="1704133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4"/>
          </p:nvPr>
        </p:nvSpPr>
        <p:spPr>
          <a:xfrm>
            <a:off x="627633" y="4429300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1660200" y="535633"/>
            <a:ext cx="8871600" cy="5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grpSp>
        <p:nvGrpSpPr>
          <p:cNvPr id="157" name="Google Shape;157;p27"/>
          <p:cNvGrpSpPr/>
          <p:nvPr/>
        </p:nvGrpSpPr>
        <p:grpSpPr>
          <a:xfrm>
            <a:off x="4127183" y="1655930"/>
            <a:ext cx="3937635" cy="3935673"/>
            <a:chOff x="3102287" y="1429998"/>
            <a:chExt cx="2953226" cy="2951755"/>
          </a:xfrm>
        </p:grpSpPr>
        <p:sp>
          <p:nvSpPr>
            <p:cNvPr id="158" name="Google Shape;158;p27"/>
            <p:cNvSpPr/>
            <p:nvPr/>
          </p:nvSpPr>
          <p:spPr>
            <a:xfrm>
              <a:off x="4016728" y="1429998"/>
              <a:ext cx="1634040" cy="1193736"/>
            </a:xfrm>
            <a:custGeom>
              <a:avLst/>
              <a:gdLst/>
              <a:ahLst/>
              <a:cxnLst/>
              <a:rect l="l" t="t" r="r" b="b"/>
              <a:pathLst>
                <a:path w="21600" h="21010" extrusionOk="0">
                  <a:moveTo>
                    <a:pt x="21600" y="8145"/>
                  </a:moveTo>
                  <a:cubicBezTo>
                    <a:pt x="19118" y="4624"/>
                    <a:pt x="15943" y="2102"/>
                    <a:pt x="12437" y="865"/>
                  </a:cubicBezTo>
                  <a:cubicBezTo>
                    <a:pt x="8312" y="-590"/>
                    <a:pt x="3942" y="-201"/>
                    <a:pt x="0" y="1973"/>
                  </a:cubicBezTo>
                  <a:lnTo>
                    <a:pt x="0" y="21010"/>
                  </a:lnTo>
                  <a:cubicBezTo>
                    <a:pt x="500" y="19693"/>
                    <a:pt x="1192" y="18521"/>
                    <a:pt x="2034" y="17562"/>
                  </a:cubicBezTo>
                  <a:cubicBezTo>
                    <a:pt x="2905" y="16572"/>
                    <a:pt x="3919" y="15829"/>
                    <a:pt x="5014" y="15380"/>
                  </a:cubicBezTo>
                  <a:lnTo>
                    <a:pt x="21600" y="8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33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3102287" y="1570339"/>
              <a:ext cx="1038072" cy="1787832"/>
            </a:xfrm>
            <a:custGeom>
              <a:avLst/>
              <a:gdLst/>
              <a:ahLst/>
              <a:cxnLst/>
              <a:rect l="l" t="t" r="r" b="b"/>
              <a:pathLst>
                <a:path w="21156" h="21600" extrusionOk="0">
                  <a:moveTo>
                    <a:pt x="17200" y="0"/>
                  </a:moveTo>
                  <a:cubicBezTo>
                    <a:pt x="12221" y="1401"/>
                    <a:pt x="7988" y="3585"/>
                    <a:pt x="4962" y="6316"/>
                  </a:cubicBezTo>
                  <a:cubicBezTo>
                    <a:pt x="1268" y="9650"/>
                    <a:pt x="-444" y="13619"/>
                    <a:pt x="98" y="17595"/>
                  </a:cubicBezTo>
                  <a:lnTo>
                    <a:pt x="21156" y="21600"/>
                  </a:lnTo>
                  <a:cubicBezTo>
                    <a:pt x="19937" y="20911"/>
                    <a:pt x="18965" y="20084"/>
                    <a:pt x="18298" y="19168"/>
                  </a:cubicBezTo>
                  <a:cubicBezTo>
                    <a:pt x="17547" y="18136"/>
                    <a:pt x="17200" y="17017"/>
                    <a:pt x="17283" y="15894"/>
                  </a:cubicBezTo>
                  <a:lnTo>
                    <a:pt x="1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3115511" y="3097809"/>
              <a:ext cx="1752732" cy="12457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6445"/>
                  </a:moveTo>
                  <a:lnTo>
                    <a:pt x="13829" y="21600"/>
                  </a:lnTo>
                  <a:cubicBezTo>
                    <a:pt x="10009" y="20297"/>
                    <a:pt x="6587" y="17300"/>
                    <a:pt x="4071" y="13051"/>
                  </a:cubicBezTo>
                  <a:cubicBezTo>
                    <a:pt x="1866" y="9328"/>
                    <a:pt x="455" y="4804"/>
                    <a:pt x="0" y="0"/>
                  </a:cubicBezTo>
                  <a:lnTo>
                    <a:pt x="15759" y="7124"/>
                  </a:lnTo>
                  <a:cubicBezTo>
                    <a:pt x="16726" y="7545"/>
                    <a:pt x="17742" y="7698"/>
                    <a:pt x="18751" y="7576"/>
                  </a:cubicBezTo>
                  <a:cubicBezTo>
                    <a:pt x="19743" y="7456"/>
                    <a:pt x="20710" y="7073"/>
                    <a:pt x="21600" y="6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4311781" y="2799840"/>
              <a:ext cx="1526364" cy="1581913"/>
            </a:xfrm>
            <a:custGeom>
              <a:avLst/>
              <a:gdLst/>
              <a:ahLst/>
              <a:cxnLst/>
              <a:rect l="l" t="t" r="r" b="b"/>
              <a:pathLst>
                <a:path w="21600" h="21243" extrusionOk="0">
                  <a:moveTo>
                    <a:pt x="12593" y="0"/>
                  </a:moveTo>
                  <a:lnTo>
                    <a:pt x="21600" y="11784"/>
                  </a:lnTo>
                  <a:cubicBezTo>
                    <a:pt x="19267" y="15419"/>
                    <a:pt x="15759" y="18239"/>
                    <a:pt x="11598" y="19826"/>
                  </a:cubicBezTo>
                  <a:cubicBezTo>
                    <a:pt x="7919" y="21229"/>
                    <a:pt x="3894" y="21600"/>
                    <a:pt x="0" y="20896"/>
                  </a:cubicBezTo>
                  <a:lnTo>
                    <a:pt x="10857" y="6567"/>
                  </a:lnTo>
                  <a:cubicBezTo>
                    <a:pt x="11599" y="5663"/>
                    <a:pt x="12137" y="4623"/>
                    <a:pt x="12439" y="3514"/>
                  </a:cubicBezTo>
                  <a:cubicBezTo>
                    <a:pt x="12751" y="2366"/>
                    <a:pt x="12804" y="1168"/>
                    <a:pt x="12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676823" y="1946286"/>
              <a:ext cx="1378690" cy="1668222"/>
            </a:xfrm>
            <a:custGeom>
              <a:avLst/>
              <a:gdLst/>
              <a:ahLst/>
              <a:cxnLst/>
              <a:rect l="l" t="t" r="r" b="b"/>
              <a:pathLst>
                <a:path w="21337" h="21600" extrusionOk="0">
                  <a:moveTo>
                    <a:pt x="0" y="4387"/>
                  </a:moveTo>
                  <a:lnTo>
                    <a:pt x="15846" y="0"/>
                  </a:lnTo>
                  <a:cubicBezTo>
                    <a:pt x="19012" y="3104"/>
                    <a:pt x="20914" y="6970"/>
                    <a:pt x="21275" y="11038"/>
                  </a:cubicBezTo>
                  <a:cubicBezTo>
                    <a:pt x="21600" y="14704"/>
                    <a:pt x="20656" y="18371"/>
                    <a:pt x="18557" y="21600"/>
                  </a:cubicBezTo>
                  <a:lnTo>
                    <a:pt x="6371" y="7619"/>
                  </a:lnTo>
                  <a:cubicBezTo>
                    <a:pt x="5672" y="6816"/>
                    <a:pt x="4801" y="6128"/>
                    <a:pt x="3803" y="5590"/>
                  </a:cubicBezTo>
                  <a:cubicBezTo>
                    <a:pt x="2651" y="4968"/>
                    <a:pt x="1355" y="4558"/>
                    <a:pt x="0" y="4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33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3" name="Google Shape;163;p27"/>
            <p:cNvSpPr txBox="1"/>
            <p:nvPr/>
          </p:nvSpPr>
          <p:spPr>
            <a:xfrm>
              <a:off x="4444343" y="1670781"/>
              <a:ext cx="3123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2133"/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5443660" y="2500224"/>
              <a:ext cx="3606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2133"/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4929328" y="3709325"/>
              <a:ext cx="368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2133"/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3677557" y="3598802"/>
              <a:ext cx="386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2133"/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3395840" y="2345006"/>
              <a:ext cx="3804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2133"/>
            </a:p>
          </p:txBody>
        </p:sp>
      </p:grpSp>
      <p:sp>
        <p:nvSpPr>
          <p:cNvPr id="168" name="Google Shape;168;p27"/>
          <p:cNvSpPr txBox="1">
            <a:spLocks noGrp="1"/>
          </p:cNvSpPr>
          <p:nvPr>
            <p:ph type="subTitle" idx="5"/>
          </p:nvPr>
        </p:nvSpPr>
        <p:spPr>
          <a:xfrm>
            <a:off x="8473167" y="4891133"/>
            <a:ext cx="30912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8390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3">
  <p:cSld name="Points 4_3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750860" y="1997567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1660200" y="479494"/>
            <a:ext cx="88716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subTitle" idx="1"/>
          </p:nvPr>
        </p:nvSpPr>
        <p:spPr>
          <a:xfrm>
            <a:off x="1475167" y="1925633"/>
            <a:ext cx="3842000" cy="1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6592360" y="1997567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2"/>
          </p:nvPr>
        </p:nvSpPr>
        <p:spPr>
          <a:xfrm>
            <a:off x="7316667" y="1925633"/>
            <a:ext cx="3842000" cy="1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750860" y="43139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3"/>
          </p:nvPr>
        </p:nvSpPr>
        <p:spPr>
          <a:xfrm>
            <a:off x="1475167" y="4232233"/>
            <a:ext cx="3842000" cy="1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6592360" y="4313900"/>
            <a:ext cx="6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667">
              <a:solidFill>
                <a:schemeClr val="accent4"/>
              </a:solidFill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4"/>
          </p:nvPr>
        </p:nvSpPr>
        <p:spPr>
          <a:xfrm>
            <a:off x="7316667" y="4232233"/>
            <a:ext cx="3842000" cy="1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467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782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04">
          <p15:clr>
            <a:srgbClr val="E46962"/>
          </p15:clr>
        </p15:guide>
        <p15:guide id="2" orient="horz" pos="97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B31F-7FC8-56F0-7959-47DB9DE1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853C6-26CA-C1F6-E9C8-2038BDA18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B2AA-E0FE-647E-E416-5F674831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DEE1-1A8C-487C-91C1-BCEEBF158A8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88A4-1881-F9A7-9FDF-90F06811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49F7-ECBF-31BC-DD1B-21F3B78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1461-87D5-4BE3-9C39-0636B3C7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9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AE6F-49AD-8BFA-F20D-A7B69953B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CCD27-A2EF-F82F-F812-BAF20CDCA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C10C3-E17F-7418-DF5C-875890B7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8F1FB-4567-4391-B0D4-F2CADE5A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85546-DFB8-0C8E-1B7E-CBA1EA0F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BF94-685B-AFB0-0D9D-E3AFD3F1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7EAC-8651-A0E2-ACB6-1F4A9EAD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34C4-2CC0-6720-5404-EB58D55A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14358-AB11-599C-F920-DFF1DAE3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89278-6182-C04F-9A58-F063F418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8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F1D43-3881-005C-B0A4-17CBA3E5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A6EE-2BC9-EF9B-982F-31612DD44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EC8C7-EB7D-7233-C3EA-B5F9112F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D58FD-1E2F-6F9C-6FA2-70A58D0F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DD80-292A-1919-32FF-57EF5A4A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97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1FF6-C13F-659F-3A74-8AC41B63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CA914-00F9-EDDA-A244-15F78E779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3B337-5716-324A-DE42-A686FE541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DBF36-49F9-7591-E8EC-D6410CD6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445F5-1860-CEAD-6E71-B0D048BB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C6023-6F5A-6B6B-9298-14154692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33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F81B-02BD-61D0-6CE0-77090452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D4255-92CD-E366-F6F0-D96BC0C50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9B1A0-FC6D-94B5-5A25-330C18CAE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C8B8D-0AE4-A730-C67F-461E753A0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56A5C-DF44-0118-E6F2-888162116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E7060-7FD6-23D6-0166-EF47E47D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1D567-E7E7-7D62-1E58-1FC834D6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9C0DE-6F93-83F8-E65A-385DDFD8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81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8DB8-F005-5B01-D380-E72DB946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71224-1412-C1A5-994E-A983FA6F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C44BE-0A4A-C416-7ABA-A0BF5746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6CA88-C1A9-F021-7713-B4FAB5B0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78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71675-C471-C670-F69D-BE79C6EE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02C87-A397-F902-9DC1-916E702E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4943-6DEF-DD72-62EA-E8F560DD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57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62C5-28D0-3DF5-C4EF-440CD306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81EE-77C3-4A2A-9737-7F235D67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C2261-9F83-766C-20A0-308DB41C5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B4487-89D2-51AB-9649-12E94EB6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345AC-4DEC-124C-3196-8889051F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0EAEC-5E56-4A7E-6D2F-85A80020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18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0172-51A7-7481-C1AD-74683ACF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137FB-B29F-6C00-A8AA-C7EB44F73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FD4DD-0A7B-7128-FF94-C3B215294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45377-F8C2-72CD-06A7-2E6922C9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243C1-E70F-E1F3-1AB5-F97ABC75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3F93E-D4A7-4874-26C5-501D5873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30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A8BC-82B9-CC23-03DA-131D0340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38A85-A5C4-D3BE-8737-200B71744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C7182-BA71-1DE9-C7B7-53A7D91D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13EFB-900C-0A15-4332-A43E214E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E799-10AF-6B60-D00D-31CE0A98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791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07C1E-52AA-BF11-68F3-40BDDB6CA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304DE-7915-DD53-C54B-0F1DA67E2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4900C-303F-593B-7534-D298798A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E03F8-EBD4-6499-2895-CBC362DE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6FA30-3F94-7646-A4AA-AF39366B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FF11221-4291-9E4F-D842-FCCD09C6E3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40628457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512" imgH="514" progId="TCLayout.ActiveDocument.1">
                  <p:embed/>
                </p:oleObj>
              </mc:Choice>
              <mc:Fallback>
                <p:oleObj name="think-cell Slide" r:id="rId18" imgW="512" imgH="51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F11221-4291-9E4F-D842-FCCD09C6E3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55000" y="593367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sz="2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55000" y="1836367"/>
            <a:ext cx="10682000" cy="4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07054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B842B-B3B2-0B7F-70BD-2A64DBBA117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515199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F4D756C-B665-2606-9C00-C017A8A928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575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6" imgH="428" progId="TCLayout.ActiveDocument.1">
                  <p:embed/>
                </p:oleObj>
              </mc:Choice>
              <mc:Fallback>
                <p:oleObj name="think-cell Slide" r:id="rId14" imgW="426" imgH="42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4D756C-B665-2606-9C00-C017A8A92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C44ED-F25D-DD47-141E-AF6CCF27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3E113-DA25-6D67-5D11-F56B37CF8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F503D-7296-FBED-F73C-93AF3361C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2E301-05F9-1C4D-A3AE-B5ED3EC1169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9B387-2B6E-C70F-C8F7-80952E2BD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D8B99-0681-77E6-6B9D-E2AB58D82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84BFA-3439-604A-97BD-67EC6DDDC4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A9793-488B-7F94-4265-A0319E4F62A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3919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y44Qw5XlOIQjnRdOfx2-_Nu9oIsFBe9?usp=shari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F757114-5B48-4664-C528-26223B4A99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757114-5B48-4664-C528-26223B4A99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61D33CD-4328-A30F-124D-31AA2F793E23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8A2EF-F259-5F21-7D9A-2AC92C3740A9}"/>
              </a:ext>
            </a:extLst>
          </p:cNvPr>
          <p:cNvSpPr txBox="1"/>
          <p:nvPr/>
        </p:nvSpPr>
        <p:spPr>
          <a:xfrm>
            <a:off x="363741" y="6312241"/>
            <a:ext cx="31250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F2B3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Arial"/>
              </a:rPr>
              <a:t>March 2025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F2B3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Arial"/>
              </a:rPr>
              <a:t>Group C – Batch 10 NLP</a:t>
            </a:r>
          </a:p>
        </p:txBody>
      </p:sp>
      <p:pic>
        <p:nvPicPr>
          <p:cNvPr id="1030" name="Picture 6" descr="Cuma 1 Harapan Dunia terhadap Pilpres 2019">
            <a:extLst>
              <a:ext uri="{FF2B5EF4-FFF2-40B4-BE49-F238E27FC236}">
                <a16:creationId xmlns:a16="http://schemas.microsoft.com/office/drawing/2014/main" id="{A92186A3-1945-C6A0-D494-1EB73C496F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14"/>
          <a:stretch>
            <a:fillRect/>
          </a:stretch>
        </p:blipFill>
        <p:spPr bwMode="auto">
          <a:xfrm>
            <a:off x="5162764" y="1621395"/>
            <a:ext cx="6835473" cy="3858227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83;p29">
            <a:extLst>
              <a:ext uri="{FF2B5EF4-FFF2-40B4-BE49-F238E27FC236}">
                <a16:creationId xmlns:a16="http://schemas.microsoft.com/office/drawing/2014/main" id="{96A0E161-EFCA-71FC-AD7A-136EE320A802}"/>
              </a:ext>
            </a:extLst>
          </p:cNvPr>
          <p:cNvSpPr txBox="1">
            <a:spLocks/>
          </p:cNvSpPr>
          <p:nvPr/>
        </p:nvSpPr>
        <p:spPr>
          <a:xfrm>
            <a:off x="281700" y="2353851"/>
            <a:ext cx="4563030" cy="19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kumimoji="0" lang="en" sz="6300" b="1" i="0" u="none" strike="noStrike" kern="0" cap="none" spc="0" normalizeH="0" baseline="0" noProof="0">
                <a:ln>
                  <a:noFill/>
                </a:ln>
                <a:solidFill>
                  <a:srgbClr val="0F2B36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Space Grotesk"/>
              </a:rPr>
              <a:t>Sentiment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lang="en" sz="6300" kern="0">
                <a:solidFill>
                  <a:srgbClr val="0F2B36"/>
                </a:solidFill>
                <a:latin typeface="Poppins" pitchFamily="2" charset="77"/>
                <a:cs typeface="Poppins" pitchFamily="2" charset="77"/>
              </a:rPr>
              <a:t>Analysis</a:t>
            </a:r>
            <a:endParaRPr kumimoji="0" lang="en" sz="6300" b="1" i="0" u="none" strike="noStrike" kern="0" cap="none" spc="0" normalizeH="0" baseline="0" noProof="0">
              <a:ln>
                <a:noFill/>
              </a:ln>
              <a:solidFill>
                <a:srgbClr val="0F2B36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Space Grotes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92B88F-3F34-102D-A05C-9CEE95DD291F}"/>
              </a:ext>
            </a:extLst>
          </p:cNvPr>
          <p:cNvSpPr txBox="1"/>
          <p:nvPr/>
        </p:nvSpPr>
        <p:spPr>
          <a:xfrm>
            <a:off x="324285" y="2121059"/>
            <a:ext cx="2238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0F2B3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Arial"/>
              </a:rPr>
              <a:t>Project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BA1BC-E411-C18B-B5CC-F04F7EF59447}"/>
              </a:ext>
            </a:extLst>
          </p:cNvPr>
          <p:cNvSpPr txBox="1"/>
          <p:nvPr/>
        </p:nvSpPr>
        <p:spPr>
          <a:xfrm>
            <a:off x="363741" y="4467507"/>
            <a:ext cx="4179230" cy="408623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kumimoji="0" lang="en" sz="1800" b="1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Space Grotesk"/>
              </a:rPr>
              <a:t>Use Case : Pilpres 2019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18AD79-657D-1D03-3F1C-6388A7DC1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02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7DDC286-9C1F-F0C2-1026-A9241A104629}"/>
              </a:ext>
            </a:extLst>
          </p:cNvPr>
          <p:cNvGrpSpPr/>
          <p:nvPr/>
        </p:nvGrpSpPr>
        <p:grpSpPr>
          <a:xfrm>
            <a:off x="2348226" y="2487357"/>
            <a:ext cx="7157293" cy="2684084"/>
            <a:chOff x="329333" y="1999780"/>
            <a:chExt cx="6447720" cy="24179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F2A268-5432-D79C-DE50-7FB550DC5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333" y="1999780"/>
              <a:ext cx="2374709" cy="24179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D39982-08C3-D0CA-E606-787B040D4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4042" y="1999780"/>
              <a:ext cx="4073011" cy="2417983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C24B49A-8444-35BF-D835-ACD490962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B26C3D-19B8-84F6-E182-C716B03F95AE}"/>
              </a:ext>
            </a:extLst>
          </p:cNvPr>
          <p:cNvSpPr txBox="1">
            <a:spLocks/>
          </p:cNvSpPr>
          <p:nvPr/>
        </p:nvSpPr>
        <p:spPr>
          <a:xfrm>
            <a:off x="0" y="810144"/>
            <a:ext cx="11608420" cy="13886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just">
              <a:lnSpc>
                <a:spcPct val="100000"/>
              </a:lnSpc>
              <a:defRPr/>
            </a:pP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Beragam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masyarakat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terhadap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pelaksanaan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Pilpres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2019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tersebar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luas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di media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sosial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khususnya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Twitter, dan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sering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diasumsikan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bersifat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negatif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.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Namun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persepsi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tersebut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perlu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divalidasi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untuk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mengetahui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apakah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publik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didominasi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oleh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negatif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atau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justru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banyak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positif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. 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Oleh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karena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itu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bisa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dilakukan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analisis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sebagai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dasar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evaluasi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yang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objektif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C24295-6EEE-4DC6-CC1F-8F1C40EB24AA}"/>
              </a:ext>
            </a:extLst>
          </p:cNvPr>
          <p:cNvSpPr/>
          <p:nvPr/>
        </p:nvSpPr>
        <p:spPr>
          <a:xfrm>
            <a:off x="329333" y="144966"/>
            <a:ext cx="2062976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Background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F2287-E893-224B-5C2D-63DC53DBF01C}"/>
              </a:ext>
            </a:extLst>
          </p:cNvPr>
          <p:cNvSpPr txBox="1"/>
          <p:nvPr/>
        </p:nvSpPr>
        <p:spPr>
          <a:xfrm>
            <a:off x="4578970" y="5321470"/>
            <a:ext cx="245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</a:rPr>
              <a:t>source : twitter.com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8694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DBFF7-31BC-56A4-C4F9-881D43D5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98364E-3395-D58D-122C-3DAE18183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16DE49-278F-A489-4267-45C910881D68}"/>
              </a:ext>
            </a:extLst>
          </p:cNvPr>
          <p:cNvSpPr/>
          <p:nvPr/>
        </p:nvSpPr>
        <p:spPr>
          <a:xfrm>
            <a:off x="329333" y="144966"/>
            <a:ext cx="2062976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Project Overview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6B6CD7-3E3C-9B88-09CA-6ECF7E5B2192}"/>
              </a:ext>
            </a:extLst>
          </p:cNvPr>
          <p:cNvSpPr/>
          <p:nvPr/>
        </p:nvSpPr>
        <p:spPr>
          <a:xfrm>
            <a:off x="329333" y="2108850"/>
            <a:ext cx="2646246" cy="2952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8B0903-FD31-641D-66A2-A62EB3B16D5C}"/>
              </a:ext>
            </a:extLst>
          </p:cNvPr>
          <p:cNvSpPr txBox="1"/>
          <p:nvPr/>
        </p:nvSpPr>
        <p:spPr>
          <a:xfrm>
            <a:off x="480908" y="3060350"/>
            <a:ext cx="242539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spcAft>
                <a:spcPts val="12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Proyek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ini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bertujuan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melakukan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analisis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terhadap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data Twitter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terkait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Pilpres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2019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memahami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persepsi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publik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serta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mengembangkan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analisis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yang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dapat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digunakan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pemilu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presiden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berikutnya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31" name="Google Shape;456;p42">
            <a:extLst>
              <a:ext uri="{FF2B5EF4-FFF2-40B4-BE49-F238E27FC236}">
                <a16:creationId xmlns:a16="http://schemas.microsoft.com/office/drawing/2014/main" id="{C3C6EB59-448C-2CC5-5B95-300F907B3ABF}"/>
              </a:ext>
            </a:extLst>
          </p:cNvPr>
          <p:cNvSpPr/>
          <p:nvPr/>
        </p:nvSpPr>
        <p:spPr>
          <a:xfrm>
            <a:off x="426090" y="2459124"/>
            <a:ext cx="2303858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Project Description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2" name="Graphic 31" descr="Bullseye with solid fill">
            <a:extLst>
              <a:ext uri="{FF2B5EF4-FFF2-40B4-BE49-F238E27FC236}">
                <a16:creationId xmlns:a16="http://schemas.microsoft.com/office/drawing/2014/main" id="{3DF2FE20-5A44-992B-EB36-9C921B8A5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908" y="2509307"/>
            <a:ext cx="347806" cy="3478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480BB8-DB85-53C0-1A38-98A95D21C5B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 rot="16200000">
            <a:off x="3044139" y="3398904"/>
            <a:ext cx="365760" cy="36576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1C2DA3A-F3BC-8C88-9D25-659FEA12C26F}"/>
              </a:ext>
            </a:extLst>
          </p:cNvPr>
          <p:cNvSpPr/>
          <p:nvPr/>
        </p:nvSpPr>
        <p:spPr>
          <a:xfrm>
            <a:off x="3541298" y="2499847"/>
            <a:ext cx="2230662" cy="2306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9A9BCF-63D6-B103-BB4B-2DA651522A5D}"/>
              </a:ext>
            </a:extLst>
          </p:cNvPr>
          <p:cNvSpPr txBox="1"/>
          <p:nvPr/>
        </p:nvSpPr>
        <p:spPr>
          <a:xfrm>
            <a:off x="3638055" y="3398904"/>
            <a:ext cx="207908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spcAft>
                <a:spcPts val="12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Pada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proyek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ini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digunakan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algoritma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Random Forest dan LSTM,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disertai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dengan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proses hyperparameter tuning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mengoptimalkan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kinerja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masing‑masing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algoritma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36" name="Google Shape;456;p42">
            <a:extLst>
              <a:ext uri="{FF2B5EF4-FFF2-40B4-BE49-F238E27FC236}">
                <a16:creationId xmlns:a16="http://schemas.microsoft.com/office/drawing/2014/main" id="{CE701759-9F0C-A68F-77ED-7A167A638D45}"/>
              </a:ext>
            </a:extLst>
          </p:cNvPr>
          <p:cNvSpPr/>
          <p:nvPr/>
        </p:nvSpPr>
        <p:spPr>
          <a:xfrm>
            <a:off x="3638055" y="2850121"/>
            <a:ext cx="2011607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Project Method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F4EB001-C983-E88F-BFD1-8557C81A680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 rot="16200000">
            <a:off x="5841461" y="3403417"/>
            <a:ext cx="365760" cy="36576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67C636E-9D93-53D3-223B-A16CD1607B5E}"/>
              </a:ext>
            </a:extLst>
          </p:cNvPr>
          <p:cNvSpPr/>
          <p:nvPr/>
        </p:nvSpPr>
        <p:spPr>
          <a:xfrm>
            <a:off x="6327680" y="2504361"/>
            <a:ext cx="2230663" cy="2306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0FFA28-2C57-E70B-CEDD-830735C5A921}"/>
              </a:ext>
            </a:extLst>
          </p:cNvPr>
          <p:cNvSpPr txBox="1"/>
          <p:nvPr/>
        </p:nvSpPr>
        <p:spPr>
          <a:xfrm>
            <a:off x="6479255" y="3451606"/>
            <a:ext cx="19586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spcAft>
                <a:spcPts val="12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Proyek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ini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mencakup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evaluasi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kinerja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guna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menentukan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algoritma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yang paling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efektif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analisis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49" name="Google Shape;456;p42">
            <a:extLst>
              <a:ext uri="{FF2B5EF4-FFF2-40B4-BE49-F238E27FC236}">
                <a16:creationId xmlns:a16="http://schemas.microsoft.com/office/drawing/2014/main" id="{C3A72219-1606-A927-1BCC-30CDCAD62DD5}"/>
              </a:ext>
            </a:extLst>
          </p:cNvPr>
          <p:cNvSpPr/>
          <p:nvPr/>
        </p:nvSpPr>
        <p:spPr>
          <a:xfrm>
            <a:off x="6424437" y="2854635"/>
            <a:ext cx="1958629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Project </a:t>
            </a:r>
            <a:r>
              <a:rPr lang="en-US" sz="1200" b="1">
                <a:solidFill>
                  <a:prstClr val="white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Output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4EE05D-E0C3-2345-2CB5-89BF289200AF}"/>
              </a:ext>
            </a:extLst>
          </p:cNvPr>
          <p:cNvSpPr/>
          <p:nvPr/>
        </p:nvSpPr>
        <p:spPr>
          <a:xfrm>
            <a:off x="9135033" y="1554103"/>
            <a:ext cx="2797749" cy="4188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A3F30-2B82-F94E-AFE2-A627802FB340}"/>
              </a:ext>
            </a:extLst>
          </p:cNvPr>
          <p:cNvSpPr txBox="1"/>
          <p:nvPr/>
        </p:nvSpPr>
        <p:spPr>
          <a:xfrm>
            <a:off x="9278279" y="2474447"/>
            <a:ext cx="26321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spcAft>
                <a:spcPts val="12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Hasil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dari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proyek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ini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diharapkan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dapat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memberikan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manfaat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bisnis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antara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lain:</a:t>
            </a:r>
          </a:p>
          <a:p>
            <a:pPr marL="171450" lvl="0" indent="-171450" defTabSz="914377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Mengukur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distribusi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tren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publik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secara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objektif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terhadap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pelaksanaan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Pilpres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2019.</a:t>
            </a:r>
          </a:p>
          <a:p>
            <a:pPr marL="171450" lvl="0" indent="-171450" defTabSz="914377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Mengidentifikasi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isu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perhatian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utama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masyarakat</a:t>
            </a:r>
            <a:r>
              <a:rPr lang="en-US" sz="11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pada masing‑masing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kategori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(positif,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netral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dan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negatif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),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sehingga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dapat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menjadi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dasar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evaluasi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perbaikan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penyelenggaraan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pemilu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di masa </a:t>
            </a:r>
            <a:r>
              <a:rPr lang="en-US" sz="11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mendatang</a:t>
            </a:r>
            <a:r>
              <a:rPr lang="en-US" sz="11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  <a:endParaRPr lang="en-US" sz="1100" b="1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</p:txBody>
      </p:sp>
      <p:sp>
        <p:nvSpPr>
          <p:cNvPr id="57" name="Google Shape;456;p42">
            <a:extLst>
              <a:ext uri="{FF2B5EF4-FFF2-40B4-BE49-F238E27FC236}">
                <a16:creationId xmlns:a16="http://schemas.microsoft.com/office/drawing/2014/main" id="{7B0ACC6C-6D44-C041-E769-A5198384E9A0}"/>
              </a:ext>
            </a:extLst>
          </p:cNvPr>
          <p:cNvSpPr/>
          <p:nvPr/>
        </p:nvSpPr>
        <p:spPr>
          <a:xfrm>
            <a:off x="9231790" y="1904376"/>
            <a:ext cx="2499293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Business Objective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2E711CB-ED86-61A4-20A0-0FEE2D6A2F4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 rot="16200000">
            <a:off x="8648814" y="3403417"/>
            <a:ext cx="365760" cy="365760"/>
          </a:xfrm>
          <a:prstGeom prst="rect">
            <a:avLst/>
          </a:prstGeom>
        </p:spPr>
      </p:pic>
      <p:pic>
        <p:nvPicPr>
          <p:cNvPr id="63" name="Graphic 62" descr="Research with solid fill">
            <a:extLst>
              <a:ext uri="{FF2B5EF4-FFF2-40B4-BE49-F238E27FC236}">
                <a16:creationId xmlns:a16="http://schemas.microsoft.com/office/drawing/2014/main" id="{C83F112F-1519-C214-3490-1876C0065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2874" y="2892734"/>
            <a:ext cx="359890" cy="359890"/>
          </a:xfrm>
          <a:prstGeom prst="rect">
            <a:avLst/>
          </a:prstGeom>
        </p:spPr>
      </p:pic>
      <p:pic>
        <p:nvPicPr>
          <p:cNvPr id="64" name="Graphic 63" descr="Signpost with solid fill">
            <a:extLst>
              <a:ext uri="{FF2B5EF4-FFF2-40B4-BE49-F238E27FC236}">
                <a16:creationId xmlns:a16="http://schemas.microsoft.com/office/drawing/2014/main" id="{65FBF7B5-E25A-16B1-7B54-33504197D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4613" y="2897936"/>
            <a:ext cx="370597" cy="37059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FBDCA05-3414-F22A-A3C0-33CF6DBB169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732" y="1969518"/>
            <a:ext cx="326916" cy="32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DA700-06E6-FD57-59F4-75568C2BA944}"/>
              </a:ext>
            </a:extLst>
          </p:cNvPr>
          <p:cNvSpPr txBox="1">
            <a:spLocks/>
          </p:cNvSpPr>
          <p:nvPr/>
        </p:nvSpPr>
        <p:spPr>
          <a:xfrm>
            <a:off x="0" y="810144"/>
            <a:ext cx="11608420" cy="3588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just">
              <a:lnSpc>
                <a:spcPct val="100000"/>
              </a:lnSpc>
              <a:defRPr/>
            </a:pP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Berikut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i="1" err="1">
                <a:solidFill>
                  <a:prstClr val="black"/>
                </a:solidFill>
                <a:latin typeface="Poppins"/>
                <a:cs typeface="Poppins"/>
              </a:rPr>
              <a:t>adalah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gambaran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singkat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dari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project yang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akan</a:t>
            </a:r>
            <a:r>
              <a:rPr lang="en-US" sz="1600" b="1" i="1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600" b="1" i="1" err="1">
                <a:solidFill>
                  <a:prstClr val="black"/>
                </a:solidFill>
                <a:latin typeface="Poppins"/>
                <a:cs typeface="Poppins"/>
              </a:rPr>
              <a:t>dilakukan</a:t>
            </a:r>
            <a:r>
              <a:rPr lang="en-US" sz="1600" i="1">
                <a:solidFill>
                  <a:prstClr val="black"/>
                </a:solidFill>
                <a:latin typeface="Poppins"/>
                <a:cs typeface="Poppin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2559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B88AF-EA32-AEA4-FB24-455FF1EC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person with short black hair&#10;&#10;AI-generated content may be incorrect.">
            <a:extLst>
              <a:ext uri="{FF2B5EF4-FFF2-40B4-BE49-F238E27FC236}">
                <a16:creationId xmlns:a16="http://schemas.microsoft.com/office/drawing/2014/main" id="{E4206C62-A640-006A-8CA0-9160B116E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" r="269"/>
          <a:stretch>
            <a:fillRect/>
          </a:stretch>
        </p:blipFill>
        <p:spPr>
          <a:xfrm>
            <a:off x="6740831" y="3900672"/>
            <a:ext cx="1818952" cy="1818952"/>
          </a:xfrm>
          <a:prstGeom prst="rect">
            <a:avLst/>
          </a:prstGeom>
          <a:ln w="190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2DAEE8-B6A8-AD00-58FD-11108E79D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DFD186-1AE0-539D-9A1D-690F5A9AE4A9}"/>
              </a:ext>
            </a:extLst>
          </p:cNvPr>
          <p:cNvSpPr/>
          <p:nvPr/>
        </p:nvSpPr>
        <p:spPr>
          <a:xfrm>
            <a:off x="329333" y="144966"/>
            <a:ext cx="2062976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Project Member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F1878F-EB9C-BD1E-A897-6C85CEF6D4F2}"/>
              </a:ext>
            </a:extLst>
          </p:cNvPr>
          <p:cNvSpPr txBox="1"/>
          <p:nvPr/>
        </p:nvSpPr>
        <p:spPr>
          <a:xfrm>
            <a:off x="8388257" y="3177124"/>
            <a:ext cx="217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Agil </a:t>
            </a:r>
            <a:r>
              <a:rPr lang="en-US" sz="18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Setiawan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725E9-B0BE-9476-74E7-6B6D5CCB7F1C}"/>
              </a:ext>
            </a:extLst>
          </p:cNvPr>
          <p:cNvSpPr txBox="1"/>
          <p:nvPr/>
        </p:nvSpPr>
        <p:spPr>
          <a:xfrm>
            <a:off x="4822655" y="3177124"/>
            <a:ext cx="271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Khaerani</a:t>
            </a:r>
            <a:r>
              <a:rPr lang="en-US" sz="18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Arista </a:t>
            </a:r>
            <a:r>
              <a:rPr lang="en-US" sz="18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Dewi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E443D-77BB-3702-08C2-180A4198AA81}"/>
              </a:ext>
            </a:extLst>
          </p:cNvPr>
          <p:cNvSpPr txBox="1"/>
          <p:nvPr/>
        </p:nvSpPr>
        <p:spPr>
          <a:xfrm>
            <a:off x="1257053" y="3177124"/>
            <a:ext cx="271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Irfan</a:t>
            </a:r>
            <a:r>
              <a:rPr lang="en-US" sz="18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Gani Alim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79274-1DB7-3F23-6FCF-6334E41F5A5F}"/>
              </a:ext>
            </a:extLst>
          </p:cNvPr>
          <p:cNvSpPr txBox="1"/>
          <p:nvPr/>
        </p:nvSpPr>
        <p:spPr>
          <a:xfrm>
            <a:off x="6289659" y="5862626"/>
            <a:ext cx="2711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Surya </a:t>
            </a:r>
            <a:r>
              <a:rPr lang="en-US" sz="18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Dharma Putra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F4DE4-3887-8B6E-0B69-5854298D9C2C}"/>
              </a:ext>
            </a:extLst>
          </p:cNvPr>
          <p:cNvSpPr txBox="1"/>
          <p:nvPr/>
        </p:nvSpPr>
        <p:spPr>
          <a:xfrm>
            <a:off x="2612700" y="5868738"/>
            <a:ext cx="314619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Krisna </a:t>
            </a:r>
            <a:r>
              <a:rPr lang="en-US" sz="18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Fery </a:t>
            </a:r>
            <a:r>
              <a:rPr lang="en-US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Rahmantya</a:t>
            </a:r>
            <a:endParaRPr lang="en-US" sz="18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E92A15-E451-C475-3A38-10E10E9C0C55}"/>
              </a:ext>
            </a:extLst>
          </p:cNvPr>
          <p:cNvSpPr/>
          <p:nvPr/>
        </p:nvSpPr>
        <p:spPr>
          <a:xfrm>
            <a:off x="7473703" y="3710889"/>
            <a:ext cx="343207" cy="3432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565256-2A38-979D-EA11-FB33DD506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27" y="1269395"/>
            <a:ext cx="1828800" cy="18288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16A079C-83B0-50BF-3212-D36C654CF485}"/>
              </a:ext>
            </a:extLst>
          </p:cNvPr>
          <p:cNvSpPr/>
          <p:nvPr/>
        </p:nvSpPr>
        <p:spPr>
          <a:xfrm>
            <a:off x="9302503" y="1113725"/>
            <a:ext cx="343207" cy="3432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8447F9-42AF-4A8F-DF7F-B0B559F814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18" r="1918"/>
          <a:stretch>
            <a:fillRect/>
          </a:stretch>
        </p:blipFill>
        <p:spPr>
          <a:xfrm>
            <a:off x="5111503" y="1269395"/>
            <a:ext cx="1828800" cy="18288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FE3E96C-1781-E2CE-CD7A-60C774F131D1}"/>
              </a:ext>
            </a:extLst>
          </p:cNvPr>
          <p:cNvSpPr/>
          <p:nvPr/>
        </p:nvSpPr>
        <p:spPr>
          <a:xfrm>
            <a:off x="5854300" y="1116404"/>
            <a:ext cx="343207" cy="3432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pic>
        <p:nvPicPr>
          <p:cNvPr id="3" name="Picture 2" descr="A person wearing a mask&#10;&#10;AI-generated content may be incorrect.">
            <a:extLst>
              <a:ext uri="{FF2B5EF4-FFF2-40B4-BE49-F238E27FC236}">
                <a16:creationId xmlns:a16="http://schemas.microsoft.com/office/drawing/2014/main" id="{3C779544-03B1-BED2-8515-453D7BE9F37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3" t="454" r="243" b="573"/>
          <a:stretch>
            <a:fillRect/>
          </a:stretch>
        </p:blipFill>
        <p:spPr>
          <a:xfrm>
            <a:off x="3253253" y="3842608"/>
            <a:ext cx="1935080" cy="193508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B92CB74A-FA33-00A4-A10A-28B062A93C4A}"/>
              </a:ext>
            </a:extLst>
          </p:cNvPr>
          <p:cNvSpPr/>
          <p:nvPr/>
        </p:nvSpPr>
        <p:spPr>
          <a:xfrm>
            <a:off x="4025500" y="3737262"/>
            <a:ext cx="343207" cy="3432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26CEC6-87BA-127B-F9FA-F452882D19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86" b="386"/>
          <a:stretch>
            <a:fillRect/>
          </a:stretch>
        </p:blipFill>
        <p:spPr>
          <a:xfrm>
            <a:off x="1677742" y="1269395"/>
            <a:ext cx="1828800" cy="18288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E407453-B7A1-CE2A-DEE6-3473115E9CAF}"/>
              </a:ext>
            </a:extLst>
          </p:cNvPr>
          <p:cNvSpPr/>
          <p:nvPr/>
        </p:nvSpPr>
        <p:spPr>
          <a:xfrm>
            <a:off x="2441097" y="1119703"/>
            <a:ext cx="343207" cy="3432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6712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2C6C-4D77-1703-F493-9E87B9E9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FCA106-E56A-89CD-3775-2678B4E4B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32137B-EAB1-546F-7426-A2CAE9BF37D8}"/>
              </a:ext>
            </a:extLst>
          </p:cNvPr>
          <p:cNvSpPr/>
          <p:nvPr/>
        </p:nvSpPr>
        <p:spPr>
          <a:xfrm>
            <a:off x="329333" y="144966"/>
            <a:ext cx="2062976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Project Flow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2C7B45B9-1528-447A-D5C2-07E6B8F2D3BE}"/>
              </a:ext>
            </a:extLst>
          </p:cNvPr>
          <p:cNvSpPr/>
          <p:nvPr/>
        </p:nvSpPr>
        <p:spPr>
          <a:xfrm>
            <a:off x="3103752" y="826037"/>
            <a:ext cx="8474530" cy="1284817"/>
          </a:xfrm>
          <a:prstGeom prst="roundRect">
            <a:avLst>
              <a:gd name="adj" fmla="val 1263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CB0DEA-919E-B38A-50BE-3F6296DFAECA}"/>
              </a:ext>
            </a:extLst>
          </p:cNvPr>
          <p:cNvSpPr/>
          <p:nvPr/>
        </p:nvSpPr>
        <p:spPr>
          <a:xfrm>
            <a:off x="3326707" y="131239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Contextual Understanding of the Dataset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69C545-C714-68A3-C417-F297912C9980}"/>
              </a:ext>
            </a:extLst>
          </p:cNvPr>
          <p:cNvSpPr/>
          <p:nvPr/>
        </p:nvSpPr>
        <p:spPr>
          <a:xfrm>
            <a:off x="3326707" y="947708"/>
            <a:ext cx="3931920" cy="290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cs typeface="Poppins"/>
              </a:rPr>
              <a:t>Data Understanding &amp; 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EDA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5" name="Rounded Rectangle 64">
            <a:extLst>
              <a:ext uri="{FF2B5EF4-FFF2-40B4-BE49-F238E27FC236}">
                <a16:creationId xmlns:a16="http://schemas.microsoft.com/office/drawing/2014/main" id="{DA8F1A0C-2944-6877-E12F-848715FA1D57}"/>
              </a:ext>
            </a:extLst>
          </p:cNvPr>
          <p:cNvSpPr/>
          <p:nvPr/>
        </p:nvSpPr>
        <p:spPr>
          <a:xfrm>
            <a:off x="873456" y="799075"/>
            <a:ext cx="2096653" cy="13117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 &amp; Business Understanding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199AA1-D875-590E-D984-1B7F3F2192ED}"/>
              </a:ext>
            </a:extLst>
          </p:cNvPr>
          <p:cNvSpPr/>
          <p:nvPr/>
        </p:nvSpPr>
        <p:spPr>
          <a:xfrm>
            <a:off x="747726" y="746236"/>
            <a:ext cx="350729" cy="34660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9CF357-5156-9EE6-A366-CD4BE539A90C}"/>
              </a:ext>
            </a:extLst>
          </p:cNvPr>
          <p:cNvSpPr/>
          <p:nvPr/>
        </p:nvSpPr>
        <p:spPr>
          <a:xfrm>
            <a:off x="3326707" y="1559528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Identification of Missing and Duplicate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6A691-9321-1175-187D-4F0213AD9641}"/>
              </a:ext>
            </a:extLst>
          </p:cNvPr>
          <p:cNvSpPr/>
          <p:nvPr/>
        </p:nvSpPr>
        <p:spPr>
          <a:xfrm>
            <a:off x="3326707" y="179407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Text Length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28D9E7-74DC-7C27-B550-2C47BF583832}"/>
              </a:ext>
            </a:extLst>
          </p:cNvPr>
          <p:cNvSpPr/>
          <p:nvPr/>
        </p:nvSpPr>
        <p:spPr>
          <a:xfrm>
            <a:off x="7386624" y="131239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Sentiment Distribution Analysis (Balance / Imbalanced)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61071-60A2-ED21-A8A8-2351AF34D261}"/>
              </a:ext>
            </a:extLst>
          </p:cNvPr>
          <p:cNvSpPr/>
          <p:nvPr/>
        </p:nvSpPr>
        <p:spPr>
          <a:xfrm>
            <a:off x="7386624" y="947708"/>
            <a:ext cx="3931920" cy="290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Exploratory Data Analysis for Sentiment Analysis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896E22-C2F4-F5CE-2605-0560DB3C52EB}"/>
              </a:ext>
            </a:extLst>
          </p:cNvPr>
          <p:cNvSpPr/>
          <p:nvPr/>
        </p:nvSpPr>
        <p:spPr>
          <a:xfrm>
            <a:off x="7386624" y="1559528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Frequent Terms Analysis (Unigram &amp; Bigram)</a:t>
            </a: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FCAE1B9E-648F-AFB8-0F3B-F1E9651A2FFA}"/>
              </a:ext>
            </a:extLst>
          </p:cNvPr>
          <p:cNvSpPr/>
          <p:nvPr/>
        </p:nvSpPr>
        <p:spPr>
          <a:xfrm>
            <a:off x="3103752" y="2293425"/>
            <a:ext cx="8474530" cy="845820"/>
          </a:xfrm>
          <a:prstGeom prst="roundRect">
            <a:avLst>
              <a:gd name="adj" fmla="val 12635"/>
            </a:avLst>
          </a:prstGeom>
          <a:solidFill>
            <a:srgbClr val="8693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40C233-7C4A-7C6A-0EAD-7971B7C494AC}"/>
              </a:ext>
            </a:extLst>
          </p:cNvPr>
          <p:cNvSpPr/>
          <p:nvPr/>
        </p:nvSpPr>
        <p:spPr>
          <a:xfrm>
            <a:off x="3326706" y="2476882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Text Cleaning</a:t>
            </a:r>
          </a:p>
        </p:txBody>
      </p:sp>
      <p:sp>
        <p:nvSpPr>
          <p:cNvPr id="37" name="Rounded Rectangle 64">
            <a:extLst>
              <a:ext uri="{FF2B5EF4-FFF2-40B4-BE49-F238E27FC236}">
                <a16:creationId xmlns:a16="http://schemas.microsoft.com/office/drawing/2014/main" id="{87798431-97A4-76BB-2B82-0BF196703A24}"/>
              </a:ext>
            </a:extLst>
          </p:cNvPr>
          <p:cNvSpPr/>
          <p:nvPr/>
        </p:nvSpPr>
        <p:spPr>
          <a:xfrm>
            <a:off x="873456" y="2266462"/>
            <a:ext cx="2096653" cy="872783"/>
          </a:xfrm>
          <a:prstGeom prst="roundRect">
            <a:avLst/>
          </a:prstGeom>
          <a:solidFill>
            <a:srgbClr val="3B4F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Preprocessing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514911-0EB0-82D1-BC27-6691C21F58DD}"/>
              </a:ext>
            </a:extLst>
          </p:cNvPr>
          <p:cNvSpPr/>
          <p:nvPr/>
        </p:nvSpPr>
        <p:spPr>
          <a:xfrm>
            <a:off x="747726" y="2213623"/>
            <a:ext cx="350729" cy="34660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D6EDAA-C107-D0D8-69D0-3065B4025D6A}"/>
              </a:ext>
            </a:extLst>
          </p:cNvPr>
          <p:cNvSpPr/>
          <p:nvPr/>
        </p:nvSpPr>
        <p:spPr>
          <a:xfrm>
            <a:off x="3326705" y="2701094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Stopword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- Negasi + Kata yang paling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sering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muncul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91EB69-9039-661F-2B20-BAA33F3E5142}"/>
              </a:ext>
            </a:extLst>
          </p:cNvPr>
          <p:cNvSpPr/>
          <p:nvPr/>
        </p:nvSpPr>
        <p:spPr>
          <a:xfrm>
            <a:off x="7481579" y="246750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Text Normalization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1158D6-8FD0-AD9E-C4C5-DCBC1D0ACF2D}"/>
              </a:ext>
            </a:extLst>
          </p:cNvPr>
          <p:cNvSpPr/>
          <p:nvPr/>
        </p:nvSpPr>
        <p:spPr>
          <a:xfrm>
            <a:off x="7481579" y="270109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Split data Train,Val, Test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F476A88-5101-5102-5A02-5BEC6057C6F7}"/>
              </a:ext>
            </a:extLst>
          </p:cNvPr>
          <p:cNvCxnSpPr>
            <a:cxnSpLocks/>
          </p:cNvCxnSpPr>
          <p:nvPr/>
        </p:nvCxnSpPr>
        <p:spPr>
          <a:xfrm>
            <a:off x="7258626" y="2110854"/>
            <a:ext cx="0" cy="182571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8">
            <a:extLst>
              <a:ext uri="{FF2B5EF4-FFF2-40B4-BE49-F238E27FC236}">
                <a16:creationId xmlns:a16="http://schemas.microsoft.com/office/drawing/2014/main" id="{67265ADD-4694-D8B1-C4BE-CDB3ACC1296D}"/>
              </a:ext>
            </a:extLst>
          </p:cNvPr>
          <p:cNvSpPr/>
          <p:nvPr/>
        </p:nvSpPr>
        <p:spPr>
          <a:xfrm>
            <a:off x="3111666" y="3334278"/>
            <a:ext cx="8474530" cy="1037682"/>
          </a:xfrm>
          <a:prstGeom prst="roundRect">
            <a:avLst>
              <a:gd name="adj" fmla="val 1263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A7760DF-E08A-4E66-D56F-51657F14DA60}"/>
              </a:ext>
            </a:extLst>
          </p:cNvPr>
          <p:cNvSpPr/>
          <p:nvPr/>
        </p:nvSpPr>
        <p:spPr>
          <a:xfrm>
            <a:off x="3334621" y="382063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Random Forest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8B9DAFF-40D0-F5C2-34D8-4E395ED39721}"/>
              </a:ext>
            </a:extLst>
          </p:cNvPr>
          <p:cNvSpPr/>
          <p:nvPr/>
        </p:nvSpPr>
        <p:spPr>
          <a:xfrm>
            <a:off x="3334621" y="3455948"/>
            <a:ext cx="3931920" cy="290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Modeling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4" name="Rounded Rectangle 64">
            <a:extLst>
              <a:ext uri="{FF2B5EF4-FFF2-40B4-BE49-F238E27FC236}">
                <a16:creationId xmlns:a16="http://schemas.microsoft.com/office/drawing/2014/main" id="{464B4A79-B4C1-C7A7-4CAB-F1AEDF1069F8}"/>
              </a:ext>
            </a:extLst>
          </p:cNvPr>
          <p:cNvSpPr/>
          <p:nvPr/>
        </p:nvSpPr>
        <p:spPr>
          <a:xfrm>
            <a:off x="881370" y="3307315"/>
            <a:ext cx="2096653" cy="106464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Modeling &amp; Vectorization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579CF3C-436F-6DE4-DC9F-655CEB798497}"/>
              </a:ext>
            </a:extLst>
          </p:cNvPr>
          <p:cNvSpPr/>
          <p:nvPr/>
        </p:nvSpPr>
        <p:spPr>
          <a:xfrm>
            <a:off x="755640" y="3254476"/>
            <a:ext cx="350729" cy="34660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AF6F67F-0E2D-1200-39B5-8F5A0FB49255}"/>
              </a:ext>
            </a:extLst>
          </p:cNvPr>
          <p:cNvSpPr/>
          <p:nvPr/>
        </p:nvSpPr>
        <p:spPr>
          <a:xfrm>
            <a:off x="3334621" y="4067768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LSTM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08F9577-3D9D-CEDA-8671-3808A0C5F56C}"/>
              </a:ext>
            </a:extLst>
          </p:cNvPr>
          <p:cNvSpPr/>
          <p:nvPr/>
        </p:nvSpPr>
        <p:spPr>
          <a:xfrm>
            <a:off x="7394538" y="3820633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cs typeface="Poppins"/>
              </a:rPr>
              <a:t>TF IDF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 (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untuk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representasi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 token 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dalam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 sparse matrix)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4116261-1400-4349-6E86-7E24F15A8F3C}"/>
              </a:ext>
            </a:extLst>
          </p:cNvPr>
          <p:cNvSpPr/>
          <p:nvPr/>
        </p:nvSpPr>
        <p:spPr>
          <a:xfrm>
            <a:off x="7394538" y="3455948"/>
            <a:ext cx="3931920" cy="290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Vectorization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951EA58-5BF6-35BF-EC35-828DE269CFA7}"/>
              </a:ext>
            </a:extLst>
          </p:cNvPr>
          <p:cNvSpPr/>
          <p:nvPr/>
        </p:nvSpPr>
        <p:spPr>
          <a:xfrm>
            <a:off x="7394538" y="4067768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Label Encoding (Label) &amp; Embedding (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representasi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vektor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 dense)</a:t>
            </a: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08A3ED3-2512-28D3-D565-71CBD53C5809}"/>
              </a:ext>
            </a:extLst>
          </p:cNvPr>
          <p:cNvCxnSpPr>
            <a:cxnSpLocks/>
          </p:cNvCxnSpPr>
          <p:nvPr/>
        </p:nvCxnSpPr>
        <p:spPr>
          <a:xfrm>
            <a:off x="7262085" y="3139245"/>
            <a:ext cx="0" cy="182571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">
            <a:extLst>
              <a:ext uri="{FF2B5EF4-FFF2-40B4-BE49-F238E27FC236}">
                <a16:creationId xmlns:a16="http://schemas.microsoft.com/office/drawing/2014/main" id="{CC432D34-6EDA-7D3D-E312-C570C1DA9DAD}"/>
              </a:ext>
            </a:extLst>
          </p:cNvPr>
          <p:cNvSpPr/>
          <p:nvPr/>
        </p:nvSpPr>
        <p:spPr>
          <a:xfrm>
            <a:off x="3127821" y="4566993"/>
            <a:ext cx="8474530" cy="700633"/>
          </a:xfrm>
          <a:prstGeom prst="roundRect">
            <a:avLst>
              <a:gd name="adj" fmla="val 12635"/>
            </a:avLst>
          </a:prstGeom>
          <a:solidFill>
            <a:srgbClr val="8693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CCB0146-E200-805C-2B80-AD4506EC22DA}"/>
              </a:ext>
            </a:extLst>
          </p:cNvPr>
          <p:cNvSpPr/>
          <p:nvPr/>
        </p:nvSpPr>
        <p:spPr>
          <a:xfrm>
            <a:off x="3350775" y="4641592"/>
            <a:ext cx="3931919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Random Forest</a:t>
            </a:r>
          </a:p>
        </p:txBody>
      </p:sp>
      <p:sp>
        <p:nvSpPr>
          <p:cNvPr id="87" name="Rounded Rectangle 64">
            <a:extLst>
              <a:ext uri="{FF2B5EF4-FFF2-40B4-BE49-F238E27FC236}">
                <a16:creationId xmlns:a16="http://schemas.microsoft.com/office/drawing/2014/main" id="{0271FE35-C0CF-0C8D-4D9D-4BC8787EFD3B}"/>
              </a:ext>
            </a:extLst>
          </p:cNvPr>
          <p:cNvSpPr/>
          <p:nvPr/>
        </p:nvSpPr>
        <p:spPr>
          <a:xfrm>
            <a:off x="897525" y="4540030"/>
            <a:ext cx="2096653" cy="727595"/>
          </a:xfrm>
          <a:prstGeom prst="roundRect">
            <a:avLst/>
          </a:prstGeom>
          <a:solidFill>
            <a:srgbClr val="3B4F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Hyper Parameter Tuning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6CA8269-FE86-831B-B316-D3C96D3AEF3A}"/>
              </a:ext>
            </a:extLst>
          </p:cNvPr>
          <p:cNvSpPr/>
          <p:nvPr/>
        </p:nvSpPr>
        <p:spPr>
          <a:xfrm>
            <a:off x="771795" y="4487191"/>
            <a:ext cx="350729" cy="34660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B7C7BF3-3CA3-94BE-0EDB-8A98E00FE590}"/>
              </a:ext>
            </a:extLst>
          </p:cNvPr>
          <p:cNvSpPr/>
          <p:nvPr/>
        </p:nvSpPr>
        <p:spPr>
          <a:xfrm>
            <a:off x="3350774" y="5009641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n_gram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df_min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max_df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900" err="1">
                <a:solidFill>
                  <a:prstClr val="black"/>
                </a:solidFill>
                <a:latin typeface="Poppins"/>
                <a:cs typeface="Poppins"/>
              </a:rPr>
              <a:t>max_f</a:t>
            </a: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eatures</a:t>
            </a: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E4959C-07EB-44C0-74E5-9ACC1AD4BCA3}"/>
              </a:ext>
            </a:extLst>
          </p:cNvPr>
          <p:cNvSpPr/>
          <p:nvPr/>
        </p:nvSpPr>
        <p:spPr>
          <a:xfrm>
            <a:off x="7505648" y="4632213"/>
            <a:ext cx="3931919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LSTM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E174673-7061-DB60-2E4D-6D3489967ED1}"/>
              </a:ext>
            </a:extLst>
          </p:cNvPr>
          <p:cNvSpPr/>
          <p:nvPr/>
        </p:nvSpPr>
        <p:spPr>
          <a:xfrm>
            <a:off x="7505648" y="5009640"/>
            <a:ext cx="3931919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nn-NO" sz="900">
              <a:solidFill>
                <a:prstClr val="black"/>
              </a:solidFill>
              <a:latin typeface="Poppins"/>
              <a:cs typeface="Poppins"/>
            </a:endParaRPr>
          </a:p>
          <a:p>
            <a:pPr algn="ctr">
              <a:defRPr/>
            </a:pPr>
            <a:r>
              <a:rPr lang="nn-NO" sz="900">
                <a:solidFill>
                  <a:prstClr val="black"/>
                </a:solidFill>
                <a:latin typeface="Poppins"/>
                <a:cs typeface="Poppins"/>
              </a:rPr>
              <a:t>emb_dim, lstm_units, dense_units, dropout, learning_rate</a:t>
            </a:r>
            <a:endParaRPr lang="en-US">
              <a:solidFill>
                <a:prstClr val="black"/>
              </a:solidFill>
            </a:endParaRPr>
          </a:p>
          <a:p>
            <a:pPr algn="ctr">
              <a:defRPr/>
            </a:pPr>
            <a:endParaRPr lang="nn-N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8C6F890-8A59-8933-BC0B-0B1727A7D216}"/>
              </a:ext>
            </a:extLst>
          </p:cNvPr>
          <p:cNvCxnSpPr>
            <a:cxnSpLocks/>
          </p:cNvCxnSpPr>
          <p:nvPr/>
        </p:nvCxnSpPr>
        <p:spPr>
          <a:xfrm>
            <a:off x="7282695" y="4384422"/>
            <a:ext cx="0" cy="182571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8">
            <a:extLst>
              <a:ext uri="{FF2B5EF4-FFF2-40B4-BE49-F238E27FC236}">
                <a16:creationId xmlns:a16="http://schemas.microsoft.com/office/drawing/2014/main" id="{A7A0A7E5-00C1-1D6B-9CC3-8FE34B34331E}"/>
              </a:ext>
            </a:extLst>
          </p:cNvPr>
          <p:cNvSpPr/>
          <p:nvPr/>
        </p:nvSpPr>
        <p:spPr>
          <a:xfrm>
            <a:off x="3127819" y="5480319"/>
            <a:ext cx="8474530" cy="1232715"/>
          </a:xfrm>
          <a:prstGeom prst="roundRect">
            <a:avLst>
              <a:gd name="adj" fmla="val 1263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27B9569-D6B4-1AB3-ABAA-59D36881861E}"/>
              </a:ext>
            </a:extLst>
          </p:cNvPr>
          <p:cNvSpPr/>
          <p:nvPr/>
        </p:nvSpPr>
        <p:spPr>
          <a:xfrm>
            <a:off x="3350772" y="5955347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14964C6-B178-5410-5143-CC5F9745E4E5}"/>
              </a:ext>
            </a:extLst>
          </p:cNvPr>
          <p:cNvSpPr/>
          <p:nvPr/>
        </p:nvSpPr>
        <p:spPr>
          <a:xfrm>
            <a:off x="3350774" y="5601989"/>
            <a:ext cx="7991836" cy="290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 Evaluation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7" name="Rounded Rectangle 64">
            <a:extLst>
              <a:ext uri="{FF2B5EF4-FFF2-40B4-BE49-F238E27FC236}">
                <a16:creationId xmlns:a16="http://schemas.microsoft.com/office/drawing/2014/main" id="{171BDE1B-C030-DC4D-A431-4C104FF2D6F2}"/>
              </a:ext>
            </a:extLst>
          </p:cNvPr>
          <p:cNvSpPr/>
          <p:nvPr/>
        </p:nvSpPr>
        <p:spPr>
          <a:xfrm>
            <a:off x="897523" y="5453356"/>
            <a:ext cx="2096653" cy="12326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 Evaluation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18D6436-3B3E-0847-818D-6DF7615E1416}"/>
              </a:ext>
            </a:extLst>
          </p:cNvPr>
          <p:cNvSpPr/>
          <p:nvPr/>
        </p:nvSpPr>
        <p:spPr>
          <a:xfrm>
            <a:off x="771793" y="5400517"/>
            <a:ext cx="350729" cy="34660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5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02571A4-D430-566B-2D53-C435DB7BF24D}"/>
              </a:ext>
            </a:extLst>
          </p:cNvPr>
          <p:cNvCxnSpPr>
            <a:cxnSpLocks/>
          </p:cNvCxnSpPr>
          <p:nvPr/>
        </p:nvCxnSpPr>
        <p:spPr>
          <a:xfrm>
            <a:off x="7295678" y="5267625"/>
            <a:ext cx="0" cy="182571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07B0F21-8A66-5B00-59C7-3122C46BA510}"/>
              </a:ext>
            </a:extLst>
          </p:cNvPr>
          <p:cNvSpPr/>
          <p:nvPr/>
        </p:nvSpPr>
        <p:spPr>
          <a:xfrm>
            <a:off x="7416336" y="5955347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Recall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F7CD9B1-70D2-787C-39BB-FD71E3F82FBD}"/>
              </a:ext>
            </a:extLst>
          </p:cNvPr>
          <p:cNvSpPr/>
          <p:nvPr/>
        </p:nvSpPr>
        <p:spPr>
          <a:xfrm>
            <a:off x="3343415" y="6191155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Accuracy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79315DB-3B5C-8B77-2CAF-5BC8049505C7}"/>
              </a:ext>
            </a:extLst>
          </p:cNvPr>
          <p:cNvSpPr/>
          <p:nvPr/>
        </p:nvSpPr>
        <p:spPr>
          <a:xfrm>
            <a:off x="7408979" y="6191155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F1 Score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F1346F1-9DA3-9F7F-228F-770EC6F05894}"/>
              </a:ext>
            </a:extLst>
          </p:cNvPr>
          <p:cNvSpPr/>
          <p:nvPr/>
        </p:nvSpPr>
        <p:spPr>
          <a:xfrm>
            <a:off x="3326702" y="6428018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Confusion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0D32B-BD82-AC1E-21B0-845970806B33}"/>
              </a:ext>
            </a:extLst>
          </p:cNvPr>
          <p:cNvSpPr/>
          <p:nvPr/>
        </p:nvSpPr>
        <p:spPr>
          <a:xfrm>
            <a:off x="7408979" y="6430640"/>
            <a:ext cx="3931920" cy="172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900">
                <a:solidFill>
                  <a:prstClr val="black"/>
                </a:solidFill>
                <a:latin typeface="Poppins"/>
                <a:cs typeface="Poppins"/>
              </a:rPr>
              <a:t>Plot Loss</a:t>
            </a:r>
            <a:endParaRPr lang="en-US">
              <a:solidFill>
                <a:prstClr val="black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272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E97A-997B-A14C-7C51-32C088EA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2C75E5-8B30-8E09-E0E9-5D52E60B5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4E4854-FF82-473E-0227-E168F204F462}"/>
              </a:ext>
            </a:extLst>
          </p:cNvPr>
          <p:cNvSpPr/>
          <p:nvPr/>
        </p:nvSpPr>
        <p:spPr>
          <a:xfrm>
            <a:off x="329332" y="144966"/>
            <a:ext cx="3961313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Poppins"/>
                <a:cs typeface="Poppins"/>
              </a:rPr>
              <a:t>Data  Understanding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DCAF2E-0155-F157-8D5C-3FD98BF7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6" y="1314568"/>
            <a:ext cx="3967843" cy="2850696"/>
          </a:xfrm>
          <a:prstGeom prst="rect">
            <a:avLst/>
          </a:prstGeom>
        </p:spPr>
      </p:pic>
      <p:pic>
        <p:nvPicPr>
          <p:cNvPr id="3" name="Picture 2" descr="A graph of a character distribution&#10;&#10;AI-generated content may be incorrect.">
            <a:extLst>
              <a:ext uri="{FF2B5EF4-FFF2-40B4-BE49-F238E27FC236}">
                <a16:creationId xmlns:a16="http://schemas.microsoft.com/office/drawing/2014/main" id="{0E4FF030-87E9-625D-0FA8-B62AAAD9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20" y="4298525"/>
            <a:ext cx="4364941" cy="24203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D153A-D943-C132-4E95-E1C7A0228DBF}"/>
              </a:ext>
            </a:extLst>
          </p:cNvPr>
          <p:cNvSpPr txBox="1"/>
          <p:nvPr/>
        </p:nvSpPr>
        <p:spPr>
          <a:xfrm>
            <a:off x="4826465" y="1503415"/>
            <a:ext cx="664642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Distribusi</a:t>
            </a:r>
            <a:r>
              <a:rPr lang="en-US" sz="1400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 label</a:t>
            </a:r>
            <a:r>
              <a:rPr lang="en-US" sz="1400" b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 </a:t>
            </a:r>
            <a:r>
              <a:rPr lang="en-US" sz="1400" b="1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cukup</a:t>
            </a:r>
            <a:r>
              <a:rPr lang="en-US" sz="1400" b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 </a:t>
            </a:r>
            <a:r>
              <a:rPr lang="en-US" sz="1400" b="1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seimbang</a:t>
            </a:r>
            <a:r>
              <a:rPr lang="en-US" sz="1400" b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 -&gt; </a:t>
            </a:r>
            <a:r>
              <a:rPr lang="en-US" sz="1400" b="1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akura</a:t>
            </a:r>
            <a:r>
              <a:rPr lang="en-US" sz="1400" b="1" err="1">
                <a:latin typeface="Poppins" panose="00000500000000000000" pitchFamily="2" charset="0"/>
                <a:cs typeface="Poppins" panose="00000500000000000000" pitchFamily="2" charset="0"/>
              </a:rPr>
              <a:t>si</a:t>
            </a:r>
            <a:r>
              <a:rPr lang="en-US" sz="1400" b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 </a:t>
            </a:r>
            <a:r>
              <a:rPr lang="en-US" sz="1400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masih</a:t>
            </a:r>
            <a:r>
              <a:rPr lang="en-US" sz="1400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 </a:t>
            </a:r>
            <a:r>
              <a:rPr lang="en-US" sz="1400" err="1"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relevan</a:t>
            </a: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Pengunaan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Macro F1 (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supaya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fair) &amp;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akurasi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metrik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Histogram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terlihat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right- skewed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supaya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pengaruh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outlier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dikurangi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kita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pakai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persentil-95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Mean dan Median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berbeda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jauh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panjangnya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moderat</a:t>
            </a: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Dari 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unigram dan bigram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terlihat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ada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slang/typo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1400" b="1" err="1">
                <a:latin typeface="Poppins" panose="00000500000000000000" pitchFamily="2" charset="0"/>
                <a:cs typeface="Poppins" panose="00000500000000000000" pitchFamily="2" charset="0"/>
              </a:rPr>
              <a:t>yg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dinormasi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1 token, cleaning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terhadap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@ dan #,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penambahan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stopword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"twitter", "com", "pic", </a:t>
            </a:r>
            <a:r>
              <a:rPr lang="en-US" sz="1400" b="1" err="1">
                <a:latin typeface="Poppins" panose="00000500000000000000" pitchFamily="2" charset="0"/>
                <a:cs typeface="Poppins" panose="00000500000000000000" pitchFamily="2" charset="0"/>
              </a:rPr>
              <a:t>dll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err="1">
                <a:latin typeface="Poppins" panose="00000500000000000000" pitchFamily="2" charset="0"/>
                <a:cs typeface="Poppins" panose="00000500000000000000" pitchFamily="2" charset="0"/>
              </a:rPr>
              <a:t>informatif</a:t>
            </a: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9F32-CE66-CEE8-9BF6-E646A8EBAD39}"/>
              </a:ext>
            </a:extLst>
          </p:cNvPr>
          <p:cNvSpPr txBox="1"/>
          <p:nvPr/>
        </p:nvSpPr>
        <p:spPr>
          <a:xfrm>
            <a:off x="523366" y="695452"/>
            <a:ext cx="111548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err="1">
                <a:latin typeface="Poppins"/>
                <a:cs typeface="Segoe UI"/>
              </a:rPr>
              <a:t>Distribusi</a:t>
            </a:r>
            <a:r>
              <a:rPr lang="en-US" sz="1600" i="1">
                <a:latin typeface="Poppins"/>
                <a:cs typeface="Segoe UI"/>
              </a:rPr>
              <a:t> label </a:t>
            </a:r>
            <a:r>
              <a:rPr lang="en-US" sz="1600" i="1" err="1">
                <a:latin typeface="Poppins"/>
                <a:cs typeface="Segoe UI"/>
              </a:rPr>
              <a:t>sudah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seimbang</a:t>
            </a:r>
            <a:r>
              <a:rPr lang="en-US" sz="1600" i="1">
                <a:latin typeface="Poppins"/>
                <a:cs typeface="Segoe UI"/>
              </a:rPr>
              <a:t>, Data right-skewed (persentil-95 </a:t>
            </a:r>
            <a:r>
              <a:rPr lang="en-US" sz="1600" i="1" err="1">
                <a:latin typeface="Poppins"/>
                <a:cs typeface="Segoe UI"/>
              </a:rPr>
              <a:t>untuk</a:t>
            </a:r>
            <a:r>
              <a:rPr lang="en-US" sz="1600" i="1">
                <a:latin typeface="Poppins"/>
                <a:cs typeface="Segoe UI"/>
              </a:rPr>
              <a:t> </a:t>
            </a:r>
            <a:r>
              <a:rPr lang="en-US" sz="1600" i="1" err="1">
                <a:latin typeface="Poppins"/>
                <a:cs typeface="Segoe UI"/>
              </a:rPr>
              <a:t>membatasi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pengaruh</a:t>
            </a:r>
            <a:r>
              <a:rPr lang="en-US" sz="1600" i="1">
                <a:latin typeface="Poppins"/>
                <a:cs typeface="Segoe UI"/>
              </a:rPr>
              <a:t> outlier), </a:t>
            </a:r>
            <a:r>
              <a:rPr lang="en-US" sz="1600" i="1" err="1">
                <a:latin typeface="Poppins"/>
                <a:cs typeface="Segoe UI"/>
              </a:rPr>
              <a:t>normalisasi</a:t>
            </a:r>
            <a:r>
              <a:rPr lang="en-US" sz="1600" i="1">
                <a:latin typeface="Poppins"/>
                <a:cs typeface="Segoe UI"/>
              </a:rPr>
              <a:t> typo, slang dan </a:t>
            </a:r>
            <a:r>
              <a:rPr lang="en-US" sz="1600" i="1" err="1">
                <a:latin typeface="Poppins"/>
                <a:cs typeface="Segoe UI"/>
              </a:rPr>
              <a:t>penambahan</a:t>
            </a:r>
            <a:r>
              <a:rPr lang="en-US" sz="1600" i="1">
                <a:latin typeface="Poppins"/>
                <a:cs typeface="Segoe UI"/>
              </a:rPr>
              <a:t> domain </a:t>
            </a:r>
            <a:r>
              <a:rPr lang="en-US" sz="1600" i="1" err="1">
                <a:latin typeface="Poppins"/>
                <a:cs typeface="Segoe UI"/>
              </a:rPr>
              <a:t>stopword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dari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hasil</a:t>
            </a:r>
            <a:r>
              <a:rPr lang="en-US" sz="1600" i="1">
                <a:latin typeface="Poppins"/>
                <a:cs typeface="Segoe UI"/>
              </a:rPr>
              <a:t> unigram dan bigram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5A3B96-D6DD-5DF0-24CD-A8D9EEE95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058" y="3865444"/>
            <a:ext cx="1613320" cy="2836474"/>
          </a:xfrm>
          <a:prstGeom prst="rect">
            <a:avLst/>
          </a:prstGeom>
        </p:spPr>
      </p:pic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C5EE892-4FE4-3FF5-3A47-66D562096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3412" y="3913247"/>
            <a:ext cx="2475063" cy="2827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7C1A06A-A399-0A78-27D8-994809A52BD2}"/>
              </a:ext>
            </a:extLst>
          </p:cNvPr>
          <p:cNvSpPr/>
          <p:nvPr/>
        </p:nvSpPr>
        <p:spPr>
          <a:xfrm>
            <a:off x="5472611" y="4649669"/>
            <a:ext cx="1623175" cy="13459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E4B0B-FBE9-7C89-398B-6654C6117854}"/>
              </a:ext>
            </a:extLst>
          </p:cNvPr>
          <p:cNvSpPr/>
          <p:nvPr/>
        </p:nvSpPr>
        <p:spPr>
          <a:xfrm>
            <a:off x="8319326" y="5325404"/>
            <a:ext cx="2471439" cy="105843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66486-169F-90B9-68E2-000080CFD5D0}"/>
              </a:ext>
            </a:extLst>
          </p:cNvPr>
          <p:cNvSpPr/>
          <p:nvPr/>
        </p:nvSpPr>
        <p:spPr>
          <a:xfrm>
            <a:off x="8319328" y="4318990"/>
            <a:ext cx="2471438" cy="263993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0A50E0-5B4C-DF31-41F4-6FC4D94211FF}"/>
              </a:ext>
            </a:extLst>
          </p:cNvPr>
          <p:cNvSpPr txBox="1"/>
          <p:nvPr/>
        </p:nvSpPr>
        <p:spPr>
          <a:xfrm>
            <a:off x="7088961" y="4506053"/>
            <a:ext cx="1104557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700" err="1">
                <a:latin typeface="Poppins"/>
                <a:cs typeface="Poppins"/>
              </a:rPr>
              <a:t>contoh</a:t>
            </a:r>
            <a:r>
              <a:rPr lang="en-US" sz="700" b="1">
                <a:latin typeface="Poppins"/>
                <a:cs typeface="Poppins"/>
              </a:rPr>
              <a:t> typo/slang "</a:t>
            </a:r>
            <a:r>
              <a:rPr lang="en-US" sz="700" b="1" err="1">
                <a:latin typeface="Poppins"/>
                <a:cs typeface="Poppins"/>
              </a:rPr>
              <a:t>yg</a:t>
            </a:r>
            <a:r>
              <a:rPr lang="en-US" sz="700" b="1">
                <a:latin typeface="Poppins"/>
                <a:cs typeface="Poppins"/>
              </a:rPr>
              <a:t>" </a:t>
            </a:r>
            <a:r>
              <a:rPr lang="en-US" sz="700" err="1">
                <a:latin typeface="Poppins"/>
                <a:cs typeface="Poppins"/>
              </a:rPr>
              <a:t>bisa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diubah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menjadi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b="1">
                <a:latin typeface="Poppins"/>
                <a:cs typeface="Poppins"/>
              </a:rPr>
              <a:t>"yang"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DF242-098E-9B1B-D9C9-A5A59EC01AE6}"/>
              </a:ext>
            </a:extLst>
          </p:cNvPr>
          <p:cNvSpPr txBox="1"/>
          <p:nvPr/>
        </p:nvSpPr>
        <p:spPr>
          <a:xfrm>
            <a:off x="10798319" y="4132241"/>
            <a:ext cx="1075802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700" b="1">
                <a:latin typeface="Poppins"/>
                <a:cs typeface="Poppins"/>
              </a:rPr>
              <a:t>Domain </a:t>
            </a:r>
            <a:r>
              <a:rPr lang="en-US" sz="700" b="1" err="1">
                <a:latin typeface="Poppins"/>
                <a:cs typeface="Poppins"/>
              </a:rPr>
              <a:t>stopword</a:t>
            </a:r>
            <a:r>
              <a:rPr lang="en-US" sz="700" b="1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seperti</a:t>
            </a:r>
            <a:r>
              <a:rPr lang="en-US" sz="700">
                <a:latin typeface="Poppins"/>
                <a:cs typeface="Poppins"/>
              </a:rPr>
              <a:t> "</a:t>
            </a:r>
            <a:r>
              <a:rPr lang="en-US" sz="700" b="1">
                <a:latin typeface="Poppins"/>
                <a:cs typeface="Poppins"/>
              </a:rPr>
              <a:t>pic</a:t>
            </a:r>
            <a:r>
              <a:rPr lang="en-US" sz="700">
                <a:latin typeface="Poppins"/>
                <a:cs typeface="Poppins"/>
              </a:rPr>
              <a:t>", "</a:t>
            </a:r>
            <a:r>
              <a:rPr lang="en-US" sz="700" b="1">
                <a:latin typeface="Poppins"/>
                <a:cs typeface="Poppins"/>
              </a:rPr>
              <a:t>twitter</a:t>
            </a:r>
            <a:r>
              <a:rPr lang="en-US" sz="700">
                <a:latin typeface="Poppins"/>
                <a:cs typeface="Poppins"/>
              </a:rPr>
              <a:t>" yang </a:t>
            </a:r>
            <a:r>
              <a:rPr lang="en-US" sz="700" err="1">
                <a:latin typeface="Poppins"/>
                <a:cs typeface="Poppins"/>
              </a:rPr>
              <a:t>kurang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informatif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seperti</a:t>
            </a:r>
            <a:r>
              <a:rPr lang="en-US" sz="700">
                <a:latin typeface="Poppins"/>
                <a:cs typeface="Poppins"/>
              </a:rPr>
              <a:t> "</a:t>
            </a:r>
            <a:r>
              <a:rPr lang="en-US" sz="700" b="1">
                <a:latin typeface="Poppins"/>
                <a:cs typeface="Poppins"/>
              </a:rPr>
              <a:t>pic</a:t>
            </a:r>
            <a:r>
              <a:rPr lang="en-US" sz="700">
                <a:latin typeface="Poppins"/>
                <a:cs typeface="Poppins"/>
              </a:rPr>
              <a:t>" yang </a:t>
            </a:r>
            <a:r>
              <a:rPr lang="en-US" sz="700" err="1">
                <a:latin typeface="Poppins"/>
                <a:cs typeface="Poppins"/>
              </a:rPr>
              <a:t>residu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gambar</a:t>
            </a:r>
            <a:r>
              <a:rPr lang="en-US" sz="700">
                <a:latin typeface="Poppins"/>
                <a:cs typeface="Poppins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B1C3C7-5EDC-F75F-B7D2-C040EE903F17}"/>
              </a:ext>
            </a:extLst>
          </p:cNvPr>
          <p:cNvSpPr txBox="1"/>
          <p:nvPr/>
        </p:nvSpPr>
        <p:spPr>
          <a:xfrm>
            <a:off x="10798318" y="5066768"/>
            <a:ext cx="107580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700" b="1">
                <a:latin typeface="Poppins"/>
                <a:cs typeface="Poppins"/>
              </a:rPr>
              <a:t>Sisa "#" </a:t>
            </a:r>
            <a:r>
              <a:rPr lang="en-US" sz="700">
                <a:latin typeface="Poppins"/>
                <a:cs typeface="Poppins"/>
              </a:rPr>
              <a:t>yang </a:t>
            </a:r>
            <a:r>
              <a:rPr lang="en-US" sz="700" b="1" err="1">
                <a:latin typeface="Poppins"/>
                <a:cs typeface="Poppins"/>
              </a:rPr>
              <a:t>bisa</a:t>
            </a:r>
            <a:r>
              <a:rPr lang="en-US" sz="700" b="1">
                <a:latin typeface="Poppins"/>
                <a:cs typeface="Poppins"/>
              </a:rPr>
              <a:t> </a:t>
            </a:r>
            <a:r>
              <a:rPr lang="en-US" sz="700" b="1" err="1">
                <a:latin typeface="Poppins"/>
                <a:cs typeface="Poppins"/>
              </a:rPr>
              <a:t>dihapus</a:t>
            </a:r>
            <a:r>
              <a:rPr lang="en-US" sz="700" b="1">
                <a:latin typeface="Poppins"/>
                <a:cs typeface="Poppins"/>
              </a:rPr>
              <a:t> dan </a:t>
            </a:r>
            <a:r>
              <a:rPr lang="en-US" sz="700" b="1" err="1">
                <a:latin typeface="Poppins"/>
                <a:cs typeface="Poppins"/>
              </a:rPr>
              <a:t>diambil</a:t>
            </a:r>
            <a:r>
              <a:rPr lang="en-US" sz="700" b="1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langsung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daja</a:t>
            </a:r>
            <a:r>
              <a:rPr lang="en-US" sz="700">
                <a:latin typeface="Poppins"/>
                <a:cs typeface="Poppins"/>
              </a:rPr>
              <a:t> </a:t>
            </a:r>
            <a:r>
              <a:rPr lang="en-US" sz="700" err="1">
                <a:latin typeface="Poppins"/>
                <a:cs typeface="Poppins"/>
              </a:rPr>
              <a:t>isinya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7014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5733-B801-060F-5D1F-A91FECFC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00310B-FB35-B100-00E3-98C1012C4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EA2F45-4A29-FAEA-216A-E39D83459F29}"/>
              </a:ext>
            </a:extLst>
          </p:cNvPr>
          <p:cNvSpPr/>
          <p:nvPr/>
        </p:nvSpPr>
        <p:spPr>
          <a:xfrm>
            <a:off x="303261" y="123952"/>
            <a:ext cx="2785128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Data Preprocessing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D15B7C-1398-FEB3-3F0F-20A40D47BB4D}"/>
              </a:ext>
            </a:extLst>
          </p:cNvPr>
          <p:cNvGrpSpPr/>
          <p:nvPr/>
        </p:nvGrpSpPr>
        <p:grpSpPr>
          <a:xfrm>
            <a:off x="523366" y="1259893"/>
            <a:ext cx="5466161" cy="2324896"/>
            <a:chOff x="420093" y="891062"/>
            <a:chExt cx="5466161" cy="2290220"/>
          </a:xfrm>
        </p:grpSpPr>
        <p:sp>
          <p:nvSpPr>
            <p:cNvPr id="116" name="Rectangle: Diagonal Corners Rounded 115">
              <a:extLst>
                <a:ext uri="{FF2B5EF4-FFF2-40B4-BE49-F238E27FC236}">
                  <a16:creationId xmlns:a16="http://schemas.microsoft.com/office/drawing/2014/main" id="{42C674C1-B72F-A419-2FBB-561117AB384C}"/>
                </a:ext>
              </a:extLst>
            </p:cNvPr>
            <p:cNvSpPr/>
            <p:nvPr/>
          </p:nvSpPr>
          <p:spPr>
            <a:xfrm>
              <a:off x="420093" y="891062"/>
              <a:ext cx="5466161" cy="2290220"/>
            </a:xfrm>
            <a:prstGeom prst="round2DiagRect">
              <a:avLst/>
            </a:prstGeom>
            <a:solidFill>
              <a:srgbClr val="59595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>
                <a:solidFill>
                  <a:sysClr val="windowText" lastClr="000000"/>
                </a:solidFill>
                <a:latin typeface="Poppins"/>
                <a:cs typeface="Poppins"/>
              </a:endParaRPr>
            </a:p>
          </p:txBody>
        </p:sp>
        <p:sp>
          <p:nvSpPr>
            <p:cNvPr id="71" name="Google Shape;92;p13">
              <a:extLst>
                <a:ext uri="{FF2B5EF4-FFF2-40B4-BE49-F238E27FC236}">
                  <a16:creationId xmlns:a16="http://schemas.microsoft.com/office/drawing/2014/main" id="{30440700-B32F-D047-1BC0-C265802102B8}"/>
                </a:ext>
              </a:extLst>
            </p:cNvPr>
            <p:cNvSpPr txBox="1"/>
            <p:nvPr/>
          </p:nvSpPr>
          <p:spPr>
            <a:xfrm>
              <a:off x="1035737" y="1057644"/>
              <a:ext cx="4820954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1. </a:t>
              </a:r>
              <a:r>
                <a:rPr lang="en-US" sz="1200" b="1" i="0" u="none" strike="noStrike" cap="none" err="1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Persiapan</a:t>
              </a:r>
              <a:r>
                <a:rPr lang="en-US" sz="1200" b="1" i="0" u="none" strike="noStrike" cap="none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 Kamus &amp; </a:t>
              </a:r>
              <a:r>
                <a:rPr lang="en-US" sz="1200" b="1" i="0" u="none" strike="noStrike" cap="none" err="1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Aturan</a:t>
              </a:r>
              <a:endParaRPr sz="1200" b="1">
                <a:solidFill>
                  <a:srgbClr val="FFFFFF"/>
                </a:solidFill>
                <a:latin typeface="Poppins"/>
                <a:cs typeface="Poppins"/>
              </a:endParaRPr>
            </a:p>
          </p:txBody>
        </p:sp>
        <p:sp>
          <p:nvSpPr>
            <p:cNvPr id="72" name="Google Shape;93;p13">
              <a:extLst>
                <a:ext uri="{FF2B5EF4-FFF2-40B4-BE49-F238E27FC236}">
                  <a16:creationId xmlns:a16="http://schemas.microsoft.com/office/drawing/2014/main" id="{BB0E2BF7-A582-35C6-7B9D-216A5C22A422}"/>
                </a:ext>
              </a:extLst>
            </p:cNvPr>
            <p:cNvSpPr/>
            <p:nvPr/>
          </p:nvSpPr>
          <p:spPr>
            <a:xfrm>
              <a:off x="650786" y="1392627"/>
              <a:ext cx="4955749" cy="9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dk1"/>
                </a:solidFill>
                <a:latin typeface="Poppins"/>
                <a:ea typeface="Calibri"/>
                <a:cs typeface="Poppins"/>
                <a:sym typeface="Calibri"/>
              </a:endParaRPr>
            </a:p>
          </p:txBody>
        </p:sp>
        <p:pic>
          <p:nvPicPr>
            <p:cNvPr id="79" name="Google Shape;100;p13">
              <a:extLst>
                <a:ext uri="{FF2B5EF4-FFF2-40B4-BE49-F238E27FC236}">
                  <a16:creationId xmlns:a16="http://schemas.microsoft.com/office/drawing/2014/main" id="{B57B34F0-C4A6-84AD-62BE-9AA3F13074C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0786" y="10068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101;p13">
              <a:extLst>
                <a:ext uri="{FF2B5EF4-FFF2-40B4-BE49-F238E27FC236}">
                  <a16:creationId xmlns:a16="http://schemas.microsoft.com/office/drawing/2014/main" id="{54EE831D-3C61-2592-B6DB-99B49C82F472}"/>
                </a:ext>
              </a:extLst>
            </p:cNvPr>
            <p:cNvSpPr txBox="1"/>
            <p:nvPr/>
          </p:nvSpPr>
          <p:spPr>
            <a:xfrm>
              <a:off x="890118" y="1435127"/>
              <a:ext cx="471641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Modifikasi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Stopword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Mempertahankan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kata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negasi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kunci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(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seperti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tidak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", 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bukan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", 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jangan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) agar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makna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sentimen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tetap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utuh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81" name="Google Shape;102;p13">
              <a:extLst>
                <a:ext uri="{FF2B5EF4-FFF2-40B4-BE49-F238E27FC236}">
                  <a16:creationId xmlns:a16="http://schemas.microsoft.com/office/drawing/2014/main" id="{0A3300FB-D878-7501-F586-490656980A34}"/>
                </a:ext>
              </a:extLst>
            </p:cNvPr>
            <p:cNvSpPr txBox="1"/>
            <p:nvPr/>
          </p:nvSpPr>
          <p:spPr>
            <a:xfrm>
              <a:off x="900359" y="1903717"/>
              <a:ext cx="471641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Pembersihan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 Noise Platform: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Membuang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token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khusus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dari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platform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seperti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"rt", 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tco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", "amp"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dari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kumpulan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stopwords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82" name="Google Shape;103;p13">
              <a:extLst>
                <a:ext uri="{FF2B5EF4-FFF2-40B4-BE49-F238E27FC236}">
                  <a16:creationId xmlns:a16="http://schemas.microsoft.com/office/drawing/2014/main" id="{390147DD-9480-B03A-1096-CAE275D312EA}"/>
                </a:ext>
              </a:extLst>
            </p:cNvPr>
            <p:cNvSpPr txBox="1"/>
            <p:nvPr/>
          </p:nvSpPr>
          <p:spPr>
            <a:xfrm>
              <a:off x="890117" y="2399376"/>
              <a:ext cx="4716417" cy="702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Kamus </a:t>
              </a: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Normalisasi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Menyiapkan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tabel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pemetaan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khusus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untuk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mengubah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ejaan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tidak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baku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menjadi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bahasa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Indonesia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baku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(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contoh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: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yg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→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"yang"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).</a:t>
              </a:r>
              <a:endParaRPr sz="1050">
                <a:latin typeface="Poppins"/>
                <a:cs typeface="Poppins"/>
              </a:endParaRPr>
            </a:p>
          </p:txBody>
        </p:sp>
        <p:pic>
          <p:nvPicPr>
            <p:cNvPr id="98" name="Google Shape;119;p13">
              <a:extLst>
                <a:ext uri="{FF2B5EF4-FFF2-40B4-BE49-F238E27FC236}">
                  <a16:creationId xmlns:a16="http://schemas.microsoft.com/office/drawing/2014/main" id="{5523D1DE-DD8A-6930-2625-01133FA0F1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1564077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120;p13">
              <a:extLst>
                <a:ext uri="{FF2B5EF4-FFF2-40B4-BE49-F238E27FC236}">
                  <a16:creationId xmlns:a16="http://schemas.microsoft.com/office/drawing/2014/main" id="{3E73C0F0-FCBD-3A5E-8E46-90F4C6B9D7E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2075230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21;p13">
              <a:extLst>
                <a:ext uri="{FF2B5EF4-FFF2-40B4-BE49-F238E27FC236}">
                  <a16:creationId xmlns:a16="http://schemas.microsoft.com/office/drawing/2014/main" id="{A0AFFA6F-1EB7-5FB7-8D0B-84D4A924BC6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2690299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Rectangle: Diagonal Corners Rounded 116">
            <a:extLst>
              <a:ext uri="{FF2B5EF4-FFF2-40B4-BE49-F238E27FC236}">
                <a16:creationId xmlns:a16="http://schemas.microsoft.com/office/drawing/2014/main" id="{8FC88EFE-9C84-7BD6-7CCF-A20A50804BBB}"/>
              </a:ext>
            </a:extLst>
          </p:cNvPr>
          <p:cNvSpPr/>
          <p:nvPr/>
        </p:nvSpPr>
        <p:spPr>
          <a:xfrm>
            <a:off x="6096001" y="1280620"/>
            <a:ext cx="5572634" cy="2502850"/>
          </a:xfrm>
          <a:prstGeom prst="round2DiagRect">
            <a:avLst/>
          </a:prstGeom>
          <a:solidFill>
            <a:srgbClr val="59595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>
              <a:latin typeface="Poppins"/>
              <a:cs typeface="Poppins"/>
            </a:endParaRPr>
          </a:p>
        </p:txBody>
      </p:sp>
      <p:sp>
        <p:nvSpPr>
          <p:cNvPr id="73" name="Google Shape;94;p13">
            <a:extLst>
              <a:ext uri="{FF2B5EF4-FFF2-40B4-BE49-F238E27FC236}">
                <a16:creationId xmlns:a16="http://schemas.microsoft.com/office/drawing/2014/main" id="{921FF871-A885-C4CE-44DA-0BB4A570DA94}"/>
              </a:ext>
            </a:extLst>
          </p:cNvPr>
          <p:cNvSpPr txBox="1"/>
          <p:nvPr/>
        </p:nvSpPr>
        <p:spPr>
          <a:xfrm>
            <a:off x="6882613" y="1510213"/>
            <a:ext cx="4480323" cy="17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 SemiBold"/>
                <a:cs typeface="Poppins"/>
                <a:sym typeface="Poppins SemiBold"/>
              </a:rPr>
              <a:t>2.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Poppins"/>
                <a:ea typeface="Poppins SemiBold"/>
                <a:cs typeface="Poppins"/>
                <a:sym typeface="Poppins SemiBold"/>
              </a:rPr>
              <a:t>Pembersihan</a:t>
            </a: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 SemiBold"/>
                <a:cs typeface="Poppins"/>
                <a:sym typeface="Poppins SemiBold"/>
              </a:rPr>
              <a:t> Teks Dasar</a:t>
            </a:r>
            <a:endParaRPr sz="1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4" name="Google Shape;95;p13">
            <a:extLst>
              <a:ext uri="{FF2B5EF4-FFF2-40B4-BE49-F238E27FC236}">
                <a16:creationId xmlns:a16="http://schemas.microsoft.com/office/drawing/2014/main" id="{840ED97E-D553-C50A-C69D-32CECC2A6632}"/>
              </a:ext>
            </a:extLst>
          </p:cNvPr>
          <p:cNvSpPr/>
          <p:nvPr/>
        </p:nvSpPr>
        <p:spPr>
          <a:xfrm>
            <a:off x="6496637" y="1764979"/>
            <a:ext cx="4631513" cy="89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oppins"/>
              <a:ea typeface="Calibri"/>
              <a:cs typeface="Poppins"/>
              <a:sym typeface="Calibri"/>
            </a:endParaRPr>
          </a:p>
        </p:txBody>
      </p:sp>
      <p:pic>
        <p:nvPicPr>
          <p:cNvPr id="83" name="Google Shape;104;p13">
            <a:extLst>
              <a:ext uri="{FF2B5EF4-FFF2-40B4-BE49-F238E27FC236}">
                <a16:creationId xmlns:a16="http://schemas.microsoft.com/office/drawing/2014/main" id="{86D7DD64-17B8-67DE-C2FA-1896C14E61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6452" y="1455056"/>
            <a:ext cx="252373" cy="2147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105;p13">
            <a:extLst>
              <a:ext uri="{FF2B5EF4-FFF2-40B4-BE49-F238E27FC236}">
                <a16:creationId xmlns:a16="http://schemas.microsoft.com/office/drawing/2014/main" id="{CEA45CAE-4290-4EF1-9030-7D68270AA880}"/>
              </a:ext>
            </a:extLst>
          </p:cNvPr>
          <p:cNvSpPr txBox="1"/>
          <p:nvPr/>
        </p:nvSpPr>
        <p:spPr>
          <a:xfrm>
            <a:off x="6709037" y="1786156"/>
            <a:ext cx="4664970" cy="46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1F5F9"/>
                </a:solidFill>
                <a:latin typeface="Poppins"/>
                <a:ea typeface="Lato"/>
                <a:cs typeface="Poppins"/>
                <a:sym typeface="Lato"/>
              </a:rPr>
              <a:t>Case Folding: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Menyeragamkan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seluruh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karakter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teks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menjadi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huruf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kecil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(lowercase).</a:t>
            </a:r>
            <a:endParaRPr sz="1050">
              <a:latin typeface="Poppins"/>
              <a:cs typeface="Poppins"/>
            </a:endParaRPr>
          </a:p>
        </p:txBody>
      </p:sp>
      <p:sp>
        <p:nvSpPr>
          <p:cNvPr id="85" name="Google Shape;106;p13">
            <a:extLst>
              <a:ext uri="{FF2B5EF4-FFF2-40B4-BE49-F238E27FC236}">
                <a16:creationId xmlns:a16="http://schemas.microsoft.com/office/drawing/2014/main" id="{1ECD723D-2215-D93A-FCE6-699D247BD296}"/>
              </a:ext>
            </a:extLst>
          </p:cNvPr>
          <p:cNvSpPr txBox="1"/>
          <p:nvPr/>
        </p:nvSpPr>
        <p:spPr>
          <a:xfrm>
            <a:off x="6720783" y="2212437"/>
            <a:ext cx="4407181" cy="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1F5F9"/>
                </a:solidFill>
                <a:latin typeface="Poppins"/>
                <a:ea typeface="Lato"/>
                <a:cs typeface="Poppins"/>
                <a:sym typeface="Lato"/>
              </a:rPr>
              <a:t>Noise Removal: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Menghapus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elemen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tanpa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nilai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semantik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seperti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tautan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URL dan mention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akun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Twitter (@username).</a:t>
            </a:r>
            <a:endParaRPr sz="1050">
              <a:latin typeface="Poppins"/>
              <a:cs typeface="Poppins"/>
            </a:endParaRPr>
          </a:p>
        </p:txBody>
      </p:sp>
      <p:sp>
        <p:nvSpPr>
          <p:cNvPr id="86" name="Google Shape;107;p13">
            <a:extLst>
              <a:ext uri="{FF2B5EF4-FFF2-40B4-BE49-F238E27FC236}">
                <a16:creationId xmlns:a16="http://schemas.microsoft.com/office/drawing/2014/main" id="{23DDB4AF-9BE9-B6E3-82F5-7EF0CA428CA8}"/>
              </a:ext>
            </a:extLst>
          </p:cNvPr>
          <p:cNvSpPr txBox="1"/>
          <p:nvPr/>
        </p:nvSpPr>
        <p:spPr>
          <a:xfrm>
            <a:off x="6720783" y="2698491"/>
            <a:ext cx="4407181" cy="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1F5F9"/>
                </a:solidFill>
                <a:latin typeface="Poppins"/>
                <a:ea typeface="Lato"/>
                <a:cs typeface="Poppins"/>
                <a:sym typeface="Lato"/>
              </a:rPr>
              <a:t>Hashtag Extraction: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Menghilangkan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simbol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pagar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(#)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namun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tetap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mempertahankan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teks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kata di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belakangnya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.</a:t>
            </a:r>
            <a:endParaRPr sz="1050">
              <a:latin typeface="Poppins"/>
              <a:cs typeface="Poppins"/>
            </a:endParaRPr>
          </a:p>
        </p:txBody>
      </p:sp>
      <p:sp>
        <p:nvSpPr>
          <p:cNvPr id="87" name="Google Shape;108;p13">
            <a:extLst>
              <a:ext uri="{FF2B5EF4-FFF2-40B4-BE49-F238E27FC236}">
                <a16:creationId xmlns:a16="http://schemas.microsoft.com/office/drawing/2014/main" id="{49C0986D-FCF7-8E13-790C-37441791A00C}"/>
              </a:ext>
            </a:extLst>
          </p:cNvPr>
          <p:cNvSpPr txBox="1"/>
          <p:nvPr/>
        </p:nvSpPr>
        <p:spPr>
          <a:xfrm>
            <a:off x="6720783" y="3229474"/>
            <a:ext cx="4407181" cy="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1F5F9"/>
                </a:solidFill>
                <a:latin typeface="Poppins"/>
                <a:ea typeface="Lato"/>
                <a:cs typeface="Poppins"/>
                <a:sym typeface="Lato"/>
              </a:rPr>
              <a:t>Punctuation &amp; Whitespace: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Membuang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karakter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non-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alfanumerik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dan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merapikan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spasi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050" b="0" i="0" u="none" strike="noStrike" cap="none" err="1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ganda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oppins"/>
                <a:ea typeface="Lato"/>
                <a:cs typeface="Poppins"/>
                <a:sym typeface="Lato"/>
              </a:rPr>
              <a:t>.</a:t>
            </a:r>
            <a:endParaRPr sz="1050">
              <a:latin typeface="Poppins"/>
              <a:cs typeface="Poppins"/>
            </a:endParaRPr>
          </a:p>
        </p:txBody>
      </p:sp>
      <p:pic>
        <p:nvPicPr>
          <p:cNvPr id="101" name="Google Shape;122;p13">
            <a:extLst>
              <a:ext uri="{FF2B5EF4-FFF2-40B4-BE49-F238E27FC236}">
                <a16:creationId xmlns:a16="http://schemas.microsoft.com/office/drawing/2014/main" id="{5ADA2304-5BA9-AEEC-F84F-C1FC2FE89B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442" y="1925456"/>
            <a:ext cx="93472" cy="14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23;p13">
            <a:extLst>
              <a:ext uri="{FF2B5EF4-FFF2-40B4-BE49-F238E27FC236}">
                <a16:creationId xmlns:a16="http://schemas.microsoft.com/office/drawing/2014/main" id="{99CB017C-A20C-5202-A5BE-3D1E00CFBB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5611" y="2414252"/>
            <a:ext cx="93472" cy="14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24;p13">
            <a:extLst>
              <a:ext uri="{FF2B5EF4-FFF2-40B4-BE49-F238E27FC236}">
                <a16:creationId xmlns:a16="http://schemas.microsoft.com/office/drawing/2014/main" id="{1190BE7B-9347-68D3-D39C-D2452A68FA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6452" y="2853589"/>
            <a:ext cx="93472" cy="14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25;p13">
            <a:extLst>
              <a:ext uri="{FF2B5EF4-FFF2-40B4-BE49-F238E27FC236}">
                <a16:creationId xmlns:a16="http://schemas.microsoft.com/office/drawing/2014/main" id="{A1FF3B78-09F2-5F63-06A5-9411892ED9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3835" y="3378140"/>
            <a:ext cx="93472" cy="14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E4AD737-56B3-825C-FAC8-0CD27656BD19}"/>
              </a:ext>
            </a:extLst>
          </p:cNvPr>
          <p:cNvGrpSpPr/>
          <p:nvPr/>
        </p:nvGrpSpPr>
        <p:grpSpPr>
          <a:xfrm>
            <a:off x="397792" y="3737382"/>
            <a:ext cx="5479076" cy="2824052"/>
            <a:chOff x="420095" y="3632433"/>
            <a:chExt cx="5479076" cy="3006323"/>
          </a:xfrm>
        </p:grpSpPr>
        <p:sp>
          <p:nvSpPr>
            <p:cNvPr id="118" name="Rectangle: Diagonal Corners Rounded 117">
              <a:extLst>
                <a:ext uri="{FF2B5EF4-FFF2-40B4-BE49-F238E27FC236}">
                  <a16:creationId xmlns:a16="http://schemas.microsoft.com/office/drawing/2014/main" id="{5B233589-F841-D6B8-4A78-36A7BC07AEEE}"/>
                </a:ext>
              </a:extLst>
            </p:cNvPr>
            <p:cNvSpPr/>
            <p:nvPr/>
          </p:nvSpPr>
          <p:spPr>
            <a:xfrm>
              <a:off x="420095" y="3632433"/>
              <a:ext cx="5479076" cy="3006323"/>
            </a:xfrm>
            <a:prstGeom prst="round2DiagRect">
              <a:avLst/>
            </a:prstGeom>
            <a:solidFill>
              <a:srgbClr val="59595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>
                <a:latin typeface="Poppins"/>
                <a:cs typeface="Poppins"/>
              </a:endParaRPr>
            </a:p>
          </p:txBody>
        </p:sp>
        <p:sp>
          <p:nvSpPr>
            <p:cNvPr id="75" name="Google Shape;96;p13">
              <a:extLst>
                <a:ext uri="{FF2B5EF4-FFF2-40B4-BE49-F238E27FC236}">
                  <a16:creationId xmlns:a16="http://schemas.microsoft.com/office/drawing/2014/main" id="{ED054493-F57C-1221-B0B0-23F1BA0CC078}"/>
                </a:ext>
              </a:extLst>
            </p:cNvPr>
            <p:cNvSpPr txBox="1"/>
            <p:nvPr/>
          </p:nvSpPr>
          <p:spPr>
            <a:xfrm>
              <a:off x="1116308" y="3843054"/>
              <a:ext cx="47609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3. Pemrosesan Tingkat Kata</a:t>
              </a:r>
              <a:endParaRPr sz="1200" b="1">
                <a:solidFill>
                  <a:srgbClr val="FFFFFF"/>
                </a:solidFill>
                <a:latin typeface="Poppins"/>
                <a:cs typeface="Poppins"/>
              </a:endParaRPr>
            </a:p>
          </p:txBody>
        </p:sp>
        <p:sp>
          <p:nvSpPr>
            <p:cNvPr id="76" name="Google Shape;97;p13">
              <a:extLst>
                <a:ext uri="{FF2B5EF4-FFF2-40B4-BE49-F238E27FC236}">
                  <a16:creationId xmlns:a16="http://schemas.microsoft.com/office/drawing/2014/main" id="{97C29EC6-DE0A-4910-6E11-4D301E5B829A}"/>
                </a:ext>
              </a:extLst>
            </p:cNvPr>
            <p:cNvSpPr/>
            <p:nvPr/>
          </p:nvSpPr>
          <p:spPr>
            <a:xfrm>
              <a:off x="650786" y="4198233"/>
              <a:ext cx="4955749" cy="9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dk1"/>
                </a:solidFill>
                <a:latin typeface="Poppins"/>
                <a:ea typeface="Calibri"/>
                <a:cs typeface="Poppins"/>
                <a:sym typeface="Calibri"/>
              </a:endParaRPr>
            </a:p>
          </p:txBody>
        </p:sp>
        <p:pic>
          <p:nvPicPr>
            <p:cNvPr id="88" name="Google Shape;109;p13">
              <a:extLst>
                <a:ext uri="{FF2B5EF4-FFF2-40B4-BE49-F238E27FC236}">
                  <a16:creationId xmlns:a16="http://schemas.microsoft.com/office/drawing/2014/main" id="{5A50A410-3296-04D6-CDB7-42EDAD49268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31357" y="3816324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110;p13">
              <a:extLst>
                <a:ext uri="{FF2B5EF4-FFF2-40B4-BE49-F238E27FC236}">
                  <a16:creationId xmlns:a16="http://schemas.microsoft.com/office/drawing/2014/main" id="{F279AE15-6A17-5BCA-1F91-35444792E2F8}"/>
                </a:ext>
              </a:extLst>
            </p:cNvPr>
            <p:cNvSpPr txBox="1"/>
            <p:nvPr/>
          </p:nvSpPr>
          <p:spPr>
            <a:xfrm>
              <a:off x="956793" y="4204548"/>
              <a:ext cx="4716417" cy="702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Tokenisasi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 &amp; </a:t>
              </a: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Normalisasi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Memecah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kalimat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menjadi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token dan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mengubah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kata slang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menjadi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baku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menggunakan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kamus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telah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dibuat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0" name="Google Shape;111;p13">
              <a:extLst>
                <a:ext uri="{FF2B5EF4-FFF2-40B4-BE49-F238E27FC236}">
                  <a16:creationId xmlns:a16="http://schemas.microsoft.com/office/drawing/2014/main" id="{3931F9B0-BA47-DD4C-D34E-D5A9B4D2E4B8}"/>
                </a:ext>
              </a:extLst>
            </p:cNvPr>
            <p:cNvSpPr txBox="1"/>
            <p:nvPr/>
          </p:nvSpPr>
          <p:spPr>
            <a:xfrm>
              <a:off x="922315" y="4937703"/>
              <a:ext cx="471641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Koreksi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 Word Elongation: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Menyingkat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huruf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diketik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berulang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secara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berlebihan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(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contoh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: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baguuuus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→ 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1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baguus</a:t>
              </a:r>
              <a:r>
                <a:rPr lang="en-US" sz="1050" b="0" i="1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"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).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1" name="Google Shape;112;p13">
              <a:extLst>
                <a:ext uri="{FF2B5EF4-FFF2-40B4-BE49-F238E27FC236}">
                  <a16:creationId xmlns:a16="http://schemas.microsoft.com/office/drawing/2014/main" id="{A910FD3D-665F-1925-951F-313E733B55E6}"/>
                </a:ext>
              </a:extLst>
            </p:cNvPr>
            <p:cNvSpPr txBox="1"/>
            <p:nvPr/>
          </p:nvSpPr>
          <p:spPr>
            <a:xfrm>
              <a:off x="934949" y="5489636"/>
              <a:ext cx="471641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Filtering Panjang Kata: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Membuang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kata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terlalu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pendek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(&lt; 2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huruf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)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atau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terlalu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panjang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(&gt; 30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huruf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).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2" name="Google Shape;113;p13">
              <a:extLst>
                <a:ext uri="{FF2B5EF4-FFF2-40B4-BE49-F238E27FC236}">
                  <a16:creationId xmlns:a16="http://schemas.microsoft.com/office/drawing/2014/main" id="{525557BE-A4FF-A51E-78EF-1C05CB1B8464}"/>
                </a:ext>
              </a:extLst>
            </p:cNvPr>
            <p:cNvSpPr txBox="1"/>
            <p:nvPr/>
          </p:nvSpPr>
          <p:spPr>
            <a:xfrm>
              <a:off x="922315" y="6033384"/>
              <a:ext cx="471641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err="1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Stopword</a:t>
              </a: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 Removal: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Menghapus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kata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umum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kurang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bermakna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,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sambil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memproteksi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kata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negasi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.</a:t>
              </a:r>
              <a:endParaRPr sz="1050">
                <a:latin typeface="Poppins"/>
                <a:cs typeface="Poppins"/>
              </a:endParaRPr>
            </a:p>
          </p:txBody>
        </p:sp>
        <p:pic>
          <p:nvPicPr>
            <p:cNvPr id="105" name="Google Shape;126;p13">
              <a:extLst>
                <a:ext uri="{FF2B5EF4-FFF2-40B4-BE49-F238E27FC236}">
                  <a16:creationId xmlns:a16="http://schemas.microsoft.com/office/drawing/2014/main" id="{DE9F4400-FCA9-C757-91E0-69A2EA1C967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4369683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27;p13">
              <a:extLst>
                <a:ext uri="{FF2B5EF4-FFF2-40B4-BE49-F238E27FC236}">
                  <a16:creationId xmlns:a16="http://schemas.microsoft.com/office/drawing/2014/main" id="{C9EBD9D9-4569-28D3-3C9F-39C9EC39275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5043244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28;p13">
              <a:extLst>
                <a:ext uri="{FF2B5EF4-FFF2-40B4-BE49-F238E27FC236}">
                  <a16:creationId xmlns:a16="http://schemas.microsoft.com/office/drawing/2014/main" id="{A12C296D-595D-879F-9A66-F7FAD084903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5580216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29;p13">
              <a:extLst>
                <a:ext uri="{FF2B5EF4-FFF2-40B4-BE49-F238E27FC236}">
                  <a16:creationId xmlns:a16="http://schemas.microsoft.com/office/drawing/2014/main" id="{BAF4973B-43BE-9638-1C01-0F50B63A79C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0786" y="6155288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244E94F-F759-2471-6301-105C8D65A5C0}"/>
              </a:ext>
            </a:extLst>
          </p:cNvPr>
          <p:cNvGrpSpPr/>
          <p:nvPr/>
        </p:nvGrpSpPr>
        <p:grpSpPr>
          <a:xfrm>
            <a:off x="5999531" y="3874273"/>
            <a:ext cx="5678665" cy="2618664"/>
            <a:chOff x="6202341" y="3751290"/>
            <a:chExt cx="5529818" cy="2787679"/>
          </a:xfrm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6EEC0866-795C-3430-740D-FF8A3F725B97}"/>
                </a:ext>
              </a:extLst>
            </p:cNvPr>
            <p:cNvSpPr/>
            <p:nvPr/>
          </p:nvSpPr>
          <p:spPr>
            <a:xfrm>
              <a:off x="6202341" y="3751290"/>
              <a:ext cx="5529818" cy="2787679"/>
            </a:xfrm>
            <a:prstGeom prst="round2DiagRect">
              <a:avLst/>
            </a:prstGeom>
            <a:solidFill>
              <a:srgbClr val="59595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>
                <a:latin typeface="Poppins"/>
                <a:cs typeface="Poppins"/>
              </a:endParaRPr>
            </a:p>
          </p:txBody>
        </p:sp>
        <p:sp>
          <p:nvSpPr>
            <p:cNvPr id="77" name="Google Shape;98;p13">
              <a:extLst>
                <a:ext uri="{FF2B5EF4-FFF2-40B4-BE49-F238E27FC236}">
                  <a16:creationId xmlns:a16="http://schemas.microsoft.com/office/drawing/2014/main" id="{436DEC1C-E88E-AC6B-9C2D-BEFA3664FAAA}"/>
                </a:ext>
              </a:extLst>
            </p:cNvPr>
            <p:cNvSpPr txBox="1"/>
            <p:nvPr/>
          </p:nvSpPr>
          <p:spPr>
            <a:xfrm>
              <a:off x="6881812" y="3968353"/>
              <a:ext cx="45655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Poppins"/>
                  <a:ea typeface="Poppins SemiBold"/>
                  <a:cs typeface="Poppins"/>
                  <a:sym typeface="Poppins SemiBold"/>
                </a:rPr>
                <a:t>4. Pembagian Data (Splitting)</a:t>
              </a:r>
              <a:endParaRPr sz="1200" b="1">
                <a:solidFill>
                  <a:srgbClr val="FFFFFF"/>
                </a:solidFill>
                <a:latin typeface="Poppins"/>
                <a:cs typeface="Poppins"/>
              </a:endParaRPr>
            </a:p>
          </p:txBody>
        </p:sp>
        <p:sp>
          <p:nvSpPr>
            <p:cNvPr id="78" name="Google Shape;99;p13">
              <a:extLst>
                <a:ext uri="{FF2B5EF4-FFF2-40B4-BE49-F238E27FC236}">
                  <a16:creationId xmlns:a16="http://schemas.microsoft.com/office/drawing/2014/main" id="{FDB725ED-F71E-2B4C-BBC8-617FE4EA31B6}"/>
                </a:ext>
              </a:extLst>
            </p:cNvPr>
            <p:cNvSpPr/>
            <p:nvPr/>
          </p:nvSpPr>
          <p:spPr>
            <a:xfrm>
              <a:off x="6510337" y="4353216"/>
              <a:ext cx="4719637" cy="9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dk1"/>
                </a:solidFill>
                <a:latin typeface="Poppins"/>
                <a:ea typeface="Calibri"/>
                <a:cs typeface="Poppins"/>
                <a:sym typeface="Calibri"/>
              </a:endParaRPr>
            </a:p>
          </p:txBody>
        </p:sp>
        <p:pic>
          <p:nvPicPr>
            <p:cNvPr id="93" name="Google Shape;114;p13">
              <a:extLst>
                <a:ext uri="{FF2B5EF4-FFF2-40B4-BE49-F238E27FC236}">
                  <a16:creationId xmlns:a16="http://schemas.microsoft.com/office/drawing/2014/main" id="{C50E16E1-6FA9-99ED-F24F-42A4200CF098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510337" y="3967453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115;p13">
              <a:extLst>
                <a:ext uri="{FF2B5EF4-FFF2-40B4-BE49-F238E27FC236}">
                  <a16:creationId xmlns:a16="http://schemas.microsoft.com/office/drawing/2014/main" id="{9A349ED3-8F44-7C77-DFF2-EB1ABB9881CF}"/>
                </a:ext>
              </a:extLst>
            </p:cNvPr>
            <p:cNvSpPr txBox="1"/>
            <p:nvPr/>
          </p:nvSpPr>
          <p:spPr>
            <a:xfrm>
              <a:off x="6757675" y="4403834"/>
              <a:ext cx="449103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Data Train (80%):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Porsi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dataset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terbesar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dialokasikan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khusus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untuk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proses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pelatihan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model machine learning.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5" name="Google Shape;116;p13">
              <a:extLst>
                <a:ext uri="{FF2B5EF4-FFF2-40B4-BE49-F238E27FC236}">
                  <a16:creationId xmlns:a16="http://schemas.microsoft.com/office/drawing/2014/main" id="{CE59D9C8-991D-8C09-5845-E0F0CCFB18F4}"/>
                </a:ext>
              </a:extLst>
            </p:cNvPr>
            <p:cNvSpPr txBox="1"/>
            <p:nvPr/>
          </p:nvSpPr>
          <p:spPr>
            <a:xfrm>
              <a:off x="6738937" y="4921259"/>
              <a:ext cx="449103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Data Validation (10%):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Dataset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untuk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melakukan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tuning parameter dan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evaluasi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selama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proses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pelatihan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6" name="Google Shape;117;p13">
              <a:extLst>
                <a:ext uri="{FF2B5EF4-FFF2-40B4-BE49-F238E27FC236}">
                  <a16:creationId xmlns:a16="http://schemas.microsoft.com/office/drawing/2014/main" id="{E403C8DC-1C24-9672-9727-02D06D86539E}"/>
                </a:ext>
              </a:extLst>
            </p:cNvPr>
            <p:cNvSpPr txBox="1"/>
            <p:nvPr/>
          </p:nvSpPr>
          <p:spPr>
            <a:xfrm>
              <a:off x="6738937" y="5404849"/>
              <a:ext cx="449103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Data Test (10%):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Dataset uji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akhir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untuk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mengukur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performa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objektif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pada data yang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tidak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pernah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dilihat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model.</a:t>
              </a:r>
              <a:endParaRPr sz="1050">
                <a:latin typeface="Poppins"/>
                <a:cs typeface="Poppins"/>
              </a:endParaRPr>
            </a:p>
          </p:txBody>
        </p:sp>
        <p:sp>
          <p:nvSpPr>
            <p:cNvPr id="97" name="Google Shape;118;p13">
              <a:extLst>
                <a:ext uri="{FF2B5EF4-FFF2-40B4-BE49-F238E27FC236}">
                  <a16:creationId xmlns:a16="http://schemas.microsoft.com/office/drawing/2014/main" id="{B021AC56-467E-96AC-8023-27AE185F740D}"/>
                </a:ext>
              </a:extLst>
            </p:cNvPr>
            <p:cNvSpPr txBox="1"/>
            <p:nvPr/>
          </p:nvSpPr>
          <p:spPr>
            <a:xfrm>
              <a:off x="6757675" y="5933597"/>
              <a:ext cx="4491037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4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rgbClr val="F1F5F9"/>
                  </a:solidFill>
                  <a:latin typeface="Poppins"/>
                  <a:ea typeface="Lato"/>
                  <a:cs typeface="Poppins"/>
                  <a:sym typeface="Lato"/>
                </a:rPr>
                <a:t>Stratified Sampling: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Distribusi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porsi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label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sentimen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dipastikan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seimbang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di </a:t>
              </a:r>
              <a:r>
                <a:rPr lang="en-US" sz="1050" b="0" i="0" u="none" strike="noStrike" cap="none" err="1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setiap</a:t>
              </a:r>
              <a:r>
                <a:rPr lang="en-US" sz="1050" b="0" i="0" u="none" strike="noStrike" cap="none">
                  <a:solidFill>
                    <a:srgbClr val="CBD5E1"/>
                  </a:solidFill>
                  <a:latin typeface="Poppins"/>
                  <a:ea typeface="Lato"/>
                  <a:cs typeface="Poppins"/>
                  <a:sym typeface="Lato"/>
                </a:rPr>
                <a:t> subset data (Train, Val, Test).</a:t>
              </a:r>
              <a:endParaRPr sz="1050">
                <a:latin typeface="Poppins"/>
                <a:cs typeface="Poppins"/>
              </a:endParaRPr>
            </a:p>
          </p:txBody>
        </p:sp>
        <p:pic>
          <p:nvPicPr>
            <p:cNvPr id="109" name="Google Shape;130;p13">
              <a:extLst>
                <a:ext uri="{FF2B5EF4-FFF2-40B4-BE49-F238E27FC236}">
                  <a16:creationId xmlns:a16="http://schemas.microsoft.com/office/drawing/2014/main" id="{ECC8653B-2918-BA0D-3D04-4C219B2F336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10337" y="4524666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31;p13">
              <a:extLst>
                <a:ext uri="{FF2B5EF4-FFF2-40B4-BE49-F238E27FC236}">
                  <a16:creationId xmlns:a16="http://schemas.microsoft.com/office/drawing/2014/main" id="{9FD979E4-CAC8-A650-7960-71A79EBCD8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10337" y="5054858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32;p13">
              <a:extLst>
                <a:ext uri="{FF2B5EF4-FFF2-40B4-BE49-F238E27FC236}">
                  <a16:creationId xmlns:a16="http://schemas.microsoft.com/office/drawing/2014/main" id="{E00F47FB-AF8C-60D0-B6E5-70762C9CBB1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42526" y="5610880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33;p13">
              <a:extLst>
                <a:ext uri="{FF2B5EF4-FFF2-40B4-BE49-F238E27FC236}">
                  <a16:creationId xmlns:a16="http://schemas.microsoft.com/office/drawing/2014/main" id="{1A885A85-08BA-C3FB-7013-27A291C20B9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56814" y="6131701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34912EC-F11A-B5C2-363C-6E68D8F740EC}"/>
              </a:ext>
            </a:extLst>
          </p:cNvPr>
          <p:cNvSpPr txBox="1"/>
          <p:nvPr/>
        </p:nvSpPr>
        <p:spPr>
          <a:xfrm>
            <a:off x="523366" y="695452"/>
            <a:ext cx="1115483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latin typeface="Poppins"/>
                <a:cs typeface="Segoe UI"/>
              </a:rPr>
              <a:t>4 </a:t>
            </a:r>
            <a:r>
              <a:rPr lang="en-US" sz="1600" i="1" err="1">
                <a:latin typeface="Poppins"/>
                <a:cs typeface="Segoe UI"/>
              </a:rPr>
              <a:t>Tahapan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dalam</a:t>
            </a:r>
            <a:r>
              <a:rPr lang="en-US" sz="1600" i="1">
                <a:latin typeface="Poppins"/>
                <a:cs typeface="Segoe UI"/>
              </a:rPr>
              <a:t> proses data preprocessing, </a:t>
            </a:r>
            <a:r>
              <a:rPr lang="en-US" sz="1600" i="1" err="1">
                <a:latin typeface="Poppins"/>
                <a:cs typeface="Segoe UI"/>
              </a:rPr>
              <a:t>diantaranya</a:t>
            </a:r>
            <a:r>
              <a:rPr lang="en-US" sz="1600" i="1">
                <a:latin typeface="Poppins"/>
                <a:cs typeface="Segoe UI"/>
              </a:rPr>
              <a:t> </a:t>
            </a:r>
            <a:r>
              <a:rPr lang="en-US" sz="1600" i="1" err="1">
                <a:latin typeface="Poppins"/>
                <a:cs typeface="Segoe UI"/>
              </a:rPr>
              <a:t>adalah</a:t>
            </a:r>
            <a:r>
              <a:rPr lang="en-US" sz="1600" i="1">
                <a:latin typeface="Poppins"/>
                <a:cs typeface="Segoe U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370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546B0-4A60-FB47-A60D-E40B16C2274F}"/>
              </a:ext>
            </a:extLst>
          </p:cNvPr>
          <p:cNvSpPr/>
          <p:nvPr/>
        </p:nvSpPr>
        <p:spPr>
          <a:xfrm>
            <a:off x="329333" y="144966"/>
            <a:ext cx="3710404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Data Modeling &amp; Vectorization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1ABCE-B127-BB92-EDC6-E53CCD5EFE44}"/>
              </a:ext>
            </a:extLst>
          </p:cNvPr>
          <p:cNvSpPr txBox="1"/>
          <p:nvPr/>
        </p:nvSpPr>
        <p:spPr>
          <a:xfrm>
            <a:off x="411793" y="800994"/>
            <a:ext cx="1158039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 i="1" kern="1200" err="1">
                <a:solidFill>
                  <a:srgbClr val="09090B"/>
                </a:solidFill>
                <a:latin typeface="Poppins"/>
                <a:ea typeface="+mn-ea"/>
                <a:cs typeface="Poppins"/>
              </a:rPr>
              <a:t>M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engubah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data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teks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menjadi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representasi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numerik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yang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dapat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dipahami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oleh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algoritma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Machine Learning dan Deep Learning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untuk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meningkatkan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efektivitas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model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dalam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mengenali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pola</a:t>
            </a:r>
            <a:r>
              <a:rPr lang="en-US" sz="1600" i="1" kern="1200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 </a:t>
            </a:r>
            <a:r>
              <a:rPr lang="en-US" sz="1600" i="1" kern="1200" err="1">
                <a:solidFill>
                  <a:schemeClr val="tx1"/>
                </a:solidFill>
                <a:latin typeface="Poppins"/>
                <a:ea typeface="+mn-ea"/>
                <a:cs typeface="Poppins"/>
              </a:rPr>
              <a:t>sentimen</a:t>
            </a:r>
            <a:endParaRPr lang="en-US" sz="1600" i="1" kern="1200">
              <a:solidFill>
                <a:schemeClr val="tx1"/>
              </a:solidFill>
              <a:latin typeface="Poppins"/>
              <a:ea typeface="+mn-ea"/>
              <a:cs typeface="Poppins"/>
            </a:endParaRPr>
          </a:p>
          <a:p>
            <a:pPr algn="ctr"/>
            <a:endParaRPr lang="en-US" i="1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11C140-940F-C9AA-8EDC-51755FE7B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1" y="1563616"/>
            <a:ext cx="10885678" cy="513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4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E6FE-E45A-6EE5-38C1-48AD5CBE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8ECD1E-34D0-5702-845E-EC7A65203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4AD18B-5930-F1E7-F36E-115D9521EB4D}"/>
              </a:ext>
            </a:extLst>
          </p:cNvPr>
          <p:cNvSpPr/>
          <p:nvPr/>
        </p:nvSpPr>
        <p:spPr>
          <a:xfrm>
            <a:off x="329333" y="144966"/>
            <a:ext cx="3710404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err="1">
                <a:latin typeface="Poppins"/>
                <a:cs typeface="Poppins"/>
              </a:rPr>
              <a:t>Hypertuning</a:t>
            </a:r>
            <a:r>
              <a:rPr lang="en-US" sz="1600" b="1">
                <a:latin typeface="Poppins"/>
                <a:cs typeface="Poppins"/>
              </a:rPr>
              <a:t> Parameter</a:t>
            </a:r>
          </a:p>
        </p:txBody>
      </p:sp>
      <p:sp>
        <p:nvSpPr>
          <p:cNvPr id="6" name="Rounded Rectangle 64">
            <a:extLst>
              <a:ext uri="{FF2B5EF4-FFF2-40B4-BE49-F238E27FC236}">
                <a16:creationId xmlns:a16="http://schemas.microsoft.com/office/drawing/2014/main" id="{C761BD97-E6D0-A659-9E44-7D94F0EBB667}"/>
              </a:ext>
            </a:extLst>
          </p:cNvPr>
          <p:cNvSpPr/>
          <p:nvPr/>
        </p:nvSpPr>
        <p:spPr>
          <a:xfrm>
            <a:off x="5043204" y="837079"/>
            <a:ext cx="2096653" cy="56390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200">
                <a:solidFill>
                  <a:prstClr val="white"/>
                </a:solidFill>
                <a:latin typeface="Poppins"/>
                <a:cs typeface="Poppins"/>
              </a:rPr>
              <a:t>Random Forest</a:t>
            </a:r>
            <a:endParaRPr lang="en-US"/>
          </a:p>
        </p:txBody>
      </p:sp>
      <p:pic>
        <p:nvPicPr>
          <p:cNvPr id="2" name="Picture 1" descr="A black rectangle with red lines&#10;&#10;AI-generated content may be incorrect.">
            <a:extLst>
              <a:ext uri="{FF2B5EF4-FFF2-40B4-BE49-F238E27FC236}">
                <a16:creationId xmlns:a16="http://schemas.microsoft.com/office/drawing/2014/main" id="{E554C456-9685-8731-5581-2C85600BC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870" y="2389656"/>
            <a:ext cx="6913219" cy="3094692"/>
          </a:xfrm>
          <a:prstGeom prst="rect">
            <a:avLst/>
          </a:prstGeom>
        </p:spPr>
      </p:pic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E1B9ECD-B3C2-2BA5-F620-165EA0B2F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079" y="1397828"/>
            <a:ext cx="4375840" cy="50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7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9F94-0166-D9A3-F5A1-7DF41674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3F1AFE-EB98-D39B-7607-CA5D6A1B7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EAACC6-C81E-81D8-A828-6AECF17B267E}"/>
              </a:ext>
            </a:extLst>
          </p:cNvPr>
          <p:cNvSpPr/>
          <p:nvPr/>
        </p:nvSpPr>
        <p:spPr>
          <a:xfrm>
            <a:off x="329333" y="144966"/>
            <a:ext cx="3710404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err="1">
                <a:latin typeface="Poppins"/>
                <a:cs typeface="Poppins"/>
              </a:rPr>
              <a:t>Hypertuning</a:t>
            </a:r>
            <a:r>
              <a:rPr lang="en-US" sz="1600" b="1">
                <a:latin typeface="Poppins"/>
                <a:cs typeface="Poppins"/>
              </a:rPr>
              <a:t> Parameter</a:t>
            </a:r>
          </a:p>
        </p:txBody>
      </p:sp>
      <p:sp>
        <p:nvSpPr>
          <p:cNvPr id="6" name="Rounded Rectangle 64">
            <a:extLst>
              <a:ext uri="{FF2B5EF4-FFF2-40B4-BE49-F238E27FC236}">
                <a16:creationId xmlns:a16="http://schemas.microsoft.com/office/drawing/2014/main" id="{BF1617D5-19CB-98F2-FC38-34A463FC7138}"/>
              </a:ext>
            </a:extLst>
          </p:cNvPr>
          <p:cNvSpPr/>
          <p:nvPr/>
        </p:nvSpPr>
        <p:spPr>
          <a:xfrm>
            <a:off x="5043204" y="837079"/>
            <a:ext cx="2096653" cy="56390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200">
                <a:solidFill>
                  <a:prstClr val="white"/>
                </a:solidFill>
                <a:latin typeface="Poppins"/>
                <a:cs typeface="Poppins"/>
              </a:rPr>
              <a:t>LSTM</a:t>
            </a:r>
            <a:endParaRPr lang="en-US"/>
          </a:p>
        </p:txBody>
      </p:sp>
      <p:pic>
        <p:nvPicPr>
          <p:cNvPr id="3" name="Picture 2" descr="A black rectangle with red border&#10;&#10;AI-generated content may be incorrect.">
            <a:extLst>
              <a:ext uri="{FF2B5EF4-FFF2-40B4-BE49-F238E27FC236}">
                <a16:creationId xmlns:a16="http://schemas.microsoft.com/office/drawing/2014/main" id="{BCEF7A86-047C-E6D2-F9AD-C9FDAF7AD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870" y="1837481"/>
            <a:ext cx="6946348" cy="3171994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FBB22A9-2A12-0665-9C0F-83765A329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434" y="5142878"/>
            <a:ext cx="6734175" cy="1343025"/>
          </a:xfrm>
          <a:prstGeom prst="rect">
            <a:avLst/>
          </a:prstGeom>
        </p:spPr>
      </p:pic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3278FA1-0082-BF37-15EC-9E0C7DCA4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66" y="1836876"/>
            <a:ext cx="3116884" cy="2289728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F7131CD-0ACC-E6D2-D9F4-D998C68B0A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45" y="4477372"/>
            <a:ext cx="3105841" cy="198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06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7D36-455F-4193-F118-F718780C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9653F2-A458-B4E4-7B72-3F956DE09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F152EC-60AB-9239-8E44-4BADDE2BC1B2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Model Evaluation (Random Forest)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E27D37-4462-6F76-A7A3-7EA5AA125ABA}"/>
              </a:ext>
            </a:extLst>
          </p:cNvPr>
          <p:cNvSpPr txBox="1"/>
          <p:nvPr/>
        </p:nvSpPr>
        <p:spPr>
          <a:xfrm>
            <a:off x="249466" y="783311"/>
            <a:ext cx="115095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Selain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adanya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indikasi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overfitting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model random forest juga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masih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mengalami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kesulitan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menangkap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konsisten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dimana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diartikan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begitu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juga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yang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diartikan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sentiment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ataupun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sebaliknya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sentiment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endParaRPr lang="en-US" sz="1400" i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74523A-BD74-1B22-8BF8-6EA75E5155AE}"/>
              </a:ext>
            </a:extLst>
          </p:cNvPr>
          <p:cNvGraphicFramePr>
            <a:graphicFrameLocks noGrp="1"/>
          </p:cNvGraphicFramePr>
          <p:nvPr/>
        </p:nvGraphicFramePr>
        <p:xfrm>
          <a:off x="330781" y="2366550"/>
          <a:ext cx="5155096" cy="34557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257">
                  <a:extLst>
                    <a:ext uri="{9D8B030D-6E8A-4147-A177-3AD203B41FA5}">
                      <a16:colId xmlns:a16="http://schemas.microsoft.com/office/drawing/2014/main" val="1022042596"/>
                    </a:ext>
                  </a:extLst>
                </a:gridCol>
                <a:gridCol w="1024487">
                  <a:extLst>
                    <a:ext uri="{9D8B030D-6E8A-4147-A177-3AD203B41FA5}">
                      <a16:colId xmlns:a16="http://schemas.microsoft.com/office/drawing/2014/main" val="238218344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113727338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6508211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1789911354"/>
                    </a:ext>
                  </a:extLst>
                </a:gridCol>
              </a:tblGrid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0188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0.6188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0.5330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603014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Macro F1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0.5244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5518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Negatif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1.000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0.6056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0.5211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9230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1.000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0.7167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0.6271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96841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1.000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0.6565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0.5692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0267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Netral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0.9979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0.5676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0.4937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2487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0.9979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0.7000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0.6393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405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0.9979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0.6269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0.5571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7539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Positif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0.9980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0.7500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0.6562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3251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0.9980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0.4426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0.3387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7936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0.9980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0.5567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0.4468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46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5826AF-A67B-EA96-70D5-BD5384DA68BE}"/>
              </a:ext>
            </a:extLst>
          </p:cNvPr>
          <p:cNvSpPr txBox="1"/>
          <p:nvPr/>
        </p:nvSpPr>
        <p:spPr>
          <a:xfrm>
            <a:off x="249466" y="1757538"/>
            <a:ext cx="6108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Random Forest (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 )</a:t>
            </a:r>
            <a:endParaRPr lang="en-US" sz="1200" b="1" u="sng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708747-1842-BBCF-F675-FF5AA5DC90D1}"/>
              </a:ext>
            </a:extLst>
          </p:cNvPr>
          <p:cNvGrpSpPr/>
          <p:nvPr/>
        </p:nvGrpSpPr>
        <p:grpSpPr>
          <a:xfrm>
            <a:off x="8963943" y="2612401"/>
            <a:ext cx="2911446" cy="2927988"/>
            <a:chOff x="8721199" y="1616952"/>
            <a:chExt cx="2311966" cy="232510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BC16279-487E-4F61-1DD2-328720FE5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1199" y="1616952"/>
              <a:ext cx="2311966" cy="2325102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C4DF0AE-E7A9-FE1F-E684-0E39049DD3CF}"/>
                </a:ext>
              </a:extLst>
            </p:cNvPr>
            <p:cNvSpPr/>
            <p:nvPr/>
          </p:nvSpPr>
          <p:spPr>
            <a:xfrm>
              <a:off x="8791644" y="2427985"/>
              <a:ext cx="886831" cy="4648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D2327F6-6DEC-9909-67CC-3AD40100F925}"/>
              </a:ext>
            </a:extLst>
          </p:cNvPr>
          <p:cNvSpPr/>
          <p:nvPr/>
        </p:nvSpPr>
        <p:spPr>
          <a:xfrm>
            <a:off x="2633112" y="2576139"/>
            <a:ext cx="2738182" cy="706496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35853E-6455-0E2D-E88C-7139927712B4}"/>
              </a:ext>
            </a:extLst>
          </p:cNvPr>
          <p:cNvSpPr txBox="1"/>
          <p:nvPr/>
        </p:nvSpPr>
        <p:spPr>
          <a:xfrm>
            <a:off x="5485877" y="2638073"/>
            <a:ext cx="1378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Gap score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data train dan test sangat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(-0.4656)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indikasi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overfitting</a:t>
            </a:r>
            <a:endParaRPr lang="en-US" sz="800" b="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805529-4529-FA0D-278A-F534882F8671}"/>
              </a:ext>
            </a:extLst>
          </p:cNvPr>
          <p:cNvSpPr/>
          <p:nvPr/>
        </p:nvSpPr>
        <p:spPr>
          <a:xfrm>
            <a:off x="4610761" y="4082318"/>
            <a:ext cx="760534" cy="297416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393C4C-E52F-068D-4C96-25DC01B16EF2}"/>
              </a:ext>
            </a:extLst>
          </p:cNvPr>
          <p:cNvSpPr txBox="1"/>
          <p:nvPr/>
        </p:nvSpPr>
        <p:spPr>
          <a:xfrm>
            <a:off x="5519228" y="3915555"/>
            <a:ext cx="11259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Precision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false positive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6D746A-D0B1-F50C-1D5F-B03801F6DE38}"/>
              </a:ext>
            </a:extLst>
          </p:cNvPr>
          <p:cNvSpPr/>
          <p:nvPr/>
        </p:nvSpPr>
        <p:spPr>
          <a:xfrm>
            <a:off x="4609969" y="4865330"/>
            <a:ext cx="760534" cy="95410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014C48-7090-394B-A6BD-1B208A8E718E}"/>
              </a:ext>
            </a:extLst>
          </p:cNvPr>
          <p:cNvSpPr txBox="1"/>
          <p:nvPr/>
        </p:nvSpPr>
        <p:spPr>
          <a:xfrm>
            <a:off x="5518435" y="4906558"/>
            <a:ext cx="16797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punya precision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recall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→ 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model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berani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memberi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saat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yakin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akibatnya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kelewat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” (false negative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  <a:endParaRPr lang="en-US" sz="800" b="1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D3E540A-FE65-0ECF-66E0-AD99DF6A9B57}"/>
              </a:ext>
            </a:extLst>
          </p:cNvPr>
          <p:cNvGrpSpPr/>
          <p:nvPr/>
        </p:nvGrpSpPr>
        <p:grpSpPr>
          <a:xfrm>
            <a:off x="7238793" y="2119061"/>
            <a:ext cx="365760" cy="4212165"/>
            <a:chOff x="7118428" y="1938588"/>
            <a:chExt cx="365760" cy="421216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8DC8F99-87C1-4589-6184-EE0BBC567A64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B863F60D-FCD1-EBA3-FE98-2BBF5CC0F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0E8D51A-C298-C604-3FFA-6E78BD315A2E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EC81004-EB96-FBB3-9583-9286E2BFE139}"/>
              </a:ext>
            </a:extLst>
          </p:cNvPr>
          <p:cNvSpPr txBox="1"/>
          <p:nvPr/>
        </p:nvSpPr>
        <p:spPr>
          <a:xfrm>
            <a:off x="7774947" y="3649912"/>
            <a:ext cx="12001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Model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cukup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sentiment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terutama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di test</a:t>
            </a:r>
          </a:p>
          <a:p>
            <a:pPr algn="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(26,2%) </a:t>
            </a:r>
            <a:endParaRPr lang="en-US" sz="8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256C130-C06D-0395-0DB3-1116EF1E2534}"/>
              </a:ext>
            </a:extLst>
          </p:cNvPr>
          <p:cNvSpPr/>
          <p:nvPr/>
        </p:nvSpPr>
        <p:spPr>
          <a:xfrm>
            <a:off x="10342168" y="2590224"/>
            <a:ext cx="619926" cy="91866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69338D-CC19-D9B9-CAF2-5A9F0B634CC9}"/>
              </a:ext>
            </a:extLst>
          </p:cNvPr>
          <p:cNvSpPr txBox="1"/>
          <p:nvPr/>
        </p:nvSpPr>
        <p:spPr>
          <a:xfrm>
            <a:off x="9708148" y="2128559"/>
            <a:ext cx="1887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Error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ketukar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(28.8%)</a:t>
            </a:r>
            <a:endParaRPr lang="en-US" sz="8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8B6B453-9910-1522-B5F5-CF50C5940245}"/>
              </a:ext>
            </a:extLst>
          </p:cNvPr>
          <p:cNvSpPr/>
          <p:nvPr/>
        </p:nvSpPr>
        <p:spPr>
          <a:xfrm>
            <a:off x="10403703" y="4352318"/>
            <a:ext cx="558391" cy="97417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4B51EB-DE17-4932-5C7A-F3FF83643F6A}"/>
              </a:ext>
            </a:extLst>
          </p:cNvPr>
          <p:cNvSpPr txBox="1"/>
          <p:nvPr/>
        </p:nvSpPr>
        <p:spPr>
          <a:xfrm>
            <a:off x="9691180" y="5522111"/>
            <a:ext cx="1921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800">
                <a:latin typeface="Poppins" panose="00000500000000000000" pitchFamily="2" charset="0"/>
                <a:cs typeface="Poppins" panose="00000500000000000000" pitchFamily="2" charset="0"/>
              </a:rPr>
              <a:t>Model cenderung </a:t>
            </a:r>
            <a:r>
              <a:rPr lang="da-DK" sz="800" b="1">
                <a:latin typeface="Poppins" panose="00000500000000000000" pitchFamily="2" charset="0"/>
                <a:cs typeface="Poppins" panose="00000500000000000000" pitchFamily="2" charset="0"/>
              </a:rPr>
              <a:t>melembutkan positif menjadi netral</a:t>
            </a:r>
            <a:endParaRPr lang="en-US" sz="800" b="1"/>
          </a:p>
        </p:txBody>
      </p:sp>
    </p:spTree>
    <p:extLst>
      <p:ext uri="{BB962C8B-B14F-4D97-AF65-F5344CB8AC3E}">
        <p14:creationId xmlns:p14="http://schemas.microsoft.com/office/powerpoint/2010/main" val="34608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C056-72B3-8F0E-4446-80BFFC45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C81551-7200-A5B0-A08C-565C3D92E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1ED2D4-60FF-C476-CEE5-D095CA8BF5AF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Model Evaluation (Random Forest)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6D1B80-1473-E831-2796-3F49F618B411}"/>
              </a:ext>
            </a:extLst>
          </p:cNvPr>
          <p:cNvSpPr txBox="1"/>
          <p:nvPr/>
        </p:nvSpPr>
        <p:spPr>
          <a:xfrm>
            <a:off x="278700" y="823172"/>
            <a:ext cx="114834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Pada model Random Forest, 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hyperparameter tuning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mengurangi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overfitting dan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memperbaiki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di validation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meningkatkan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generalisasi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di test dan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justru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meningkatkan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berisiko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terutama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ketika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diklasifikasikan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6A9AE-8409-F296-D10E-0FB7C486C703}"/>
              </a:ext>
            </a:extLst>
          </p:cNvPr>
          <p:cNvSpPr txBox="1"/>
          <p:nvPr/>
        </p:nvSpPr>
        <p:spPr>
          <a:xfrm>
            <a:off x="278697" y="1719274"/>
            <a:ext cx="6108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Random Forest (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 )</a:t>
            </a:r>
            <a:endParaRPr lang="en-US" sz="1200" b="1" u="sng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E0A1F74-C12E-C1AC-10F1-F35DC0C6E9A2}"/>
              </a:ext>
            </a:extLst>
          </p:cNvPr>
          <p:cNvGrpSpPr/>
          <p:nvPr/>
        </p:nvGrpSpPr>
        <p:grpSpPr>
          <a:xfrm>
            <a:off x="7238793" y="2119061"/>
            <a:ext cx="365760" cy="4212165"/>
            <a:chOff x="7118428" y="1938588"/>
            <a:chExt cx="365760" cy="421216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11A8CBA-5176-1058-3786-1D6C8080A872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9D2DDD2-8E8C-0466-63B9-70A48EC70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F7695A8-3E51-1AA6-0311-E18E606A13BC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D091C8-CD15-C5A3-AD56-3E0B0845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52953"/>
              </p:ext>
            </p:extLst>
          </p:nvPr>
        </p:nvGraphicFramePr>
        <p:xfrm>
          <a:off x="330781" y="2366550"/>
          <a:ext cx="5155096" cy="34557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257">
                  <a:extLst>
                    <a:ext uri="{9D8B030D-6E8A-4147-A177-3AD203B41FA5}">
                      <a16:colId xmlns:a16="http://schemas.microsoft.com/office/drawing/2014/main" val="1022042596"/>
                    </a:ext>
                  </a:extLst>
                </a:gridCol>
                <a:gridCol w="1024487">
                  <a:extLst>
                    <a:ext uri="{9D8B030D-6E8A-4147-A177-3AD203B41FA5}">
                      <a16:colId xmlns:a16="http://schemas.microsoft.com/office/drawing/2014/main" val="238218344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113727338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6508211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1789911354"/>
                    </a:ext>
                  </a:extLst>
                </a:gridCol>
              </a:tblGrid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0188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603014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Macro F1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0.6352</a:t>
                      </a:r>
                      <a:endParaRPr lang="en-US" sz="11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0.4978</a:t>
                      </a:r>
                      <a:endParaRPr lang="en-US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5518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Negatif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0.9773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0.6301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0.4458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9230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0.9937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0.7667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0.6271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96841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0.9854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0.6917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0.5211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0267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Netral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0.6212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0.5469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2487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0.9753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0.6833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0.5738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405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0.9773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0.6508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0.5600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7539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Positif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0.9896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0.6905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0.5714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3251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0.9775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0.4754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0.3226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7936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0.9835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0.5631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0.4124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4634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F99E974-77BD-CB62-887F-E174E9BA007F}"/>
              </a:ext>
            </a:extLst>
          </p:cNvPr>
          <p:cNvSpPr/>
          <p:nvPr/>
        </p:nvSpPr>
        <p:spPr>
          <a:xfrm>
            <a:off x="3594826" y="2642473"/>
            <a:ext cx="1994051" cy="5551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1BA87-5FCA-9F75-E068-B45B01068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537" y="2722698"/>
            <a:ext cx="146559" cy="146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D60CDB-3EDC-0883-8FF9-3D201C3C1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063" y="3025441"/>
            <a:ext cx="146559" cy="146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EBF65-5361-44EF-551F-4778D99EC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98" y="2722698"/>
            <a:ext cx="146304" cy="146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D93E80-EC3D-A6BE-154F-15B4F3D530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928" y="3025441"/>
            <a:ext cx="146304" cy="1463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0D896E-B8DF-E0D2-D779-B9D9CBB4C8A6}"/>
              </a:ext>
            </a:extLst>
          </p:cNvPr>
          <p:cNvSpPr txBox="1"/>
          <p:nvPr/>
        </p:nvSpPr>
        <p:spPr>
          <a:xfrm>
            <a:off x="5610824" y="2504549"/>
            <a:ext cx="1693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Hasil tuning pada random forest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berhasil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menaikkan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pada data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val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turun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pada data test,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berhasil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mengurangi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overfitting</a:t>
            </a:r>
            <a:endParaRPr lang="en-US" sz="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219F0C-9071-FFD2-52A0-1B7FD9232E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370" y="3294594"/>
            <a:ext cx="146304" cy="1463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14B826-012A-1A32-BC37-65F5CA62C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370" y="3901567"/>
            <a:ext cx="146304" cy="1463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8EA952-A2B1-E595-BCDB-44807DE02752}"/>
              </a:ext>
            </a:extLst>
          </p:cNvPr>
          <p:cNvSpPr/>
          <p:nvPr/>
        </p:nvSpPr>
        <p:spPr>
          <a:xfrm>
            <a:off x="4498463" y="3274825"/>
            <a:ext cx="1112358" cy="773046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154EDD-2928-AF84-08DE-CF1B7A7D73C4}"/>
              </a:ext>
            </a:extLst>
          </p:cNvPr>
          <p:cNvSpPr txBox="1"/>
          <p:nvPr/>
        </p:nvSpPr>
        <p:spPr>
          <a:xfrm>
            <a:off x="5619368" y="3294594"/>
            <a:ext cx="15852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Model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semakin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memberi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(false positive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naik)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turunnya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performansi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sentiment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E958A4-0F88-031D-4A21-A00E5BB57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73" y="4757882"/>
            <a:ext cx="146559" cy="14655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B7F4FD-055C-F989-8C99-2125AB93B291}"/>
              </a:ext>
            </a:extLst>
          </p:cNvPr>
          <p:cNvSpPr/>
          <p:nvPr/>
        </p:nvSpPr>
        <p:spPr>
          <a:xfrm>
            <a:off x="4627535" y="4652073"/>
            <a:ext cx="961331" cy="29835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EC9893-D074-7CBC-3A62-9C746019DAAB}"/>
              </a:ext>
            </a:extLst>
          </p:cNvPr>
          <p:cNvSpPr txBox="1"/>
          <p:nvPr/>
        </p:nvSpPr>
        <p:spPr>
          <a:xfrm>
            <a:off x="5593700" y="4525759"/>
            <a:ext cx="1645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Tuning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tampaknya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menaikkan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performansi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mengorbankan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sentiment lain</a:t>
            </a:r>
            <a:endParaRPr lang="en-US" sz="8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4DC95F-0AF8-45B0-B736-5A93C6A0EB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73" y="5061500"/>
            <a:ext cx="146304" cy="1463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5E17C8-396A-0DB5-8AAB-E73805656C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73" y="5350142"/>
            <a:ext cx="146304" cy="1463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25307F-685C-CDCF-08E9-9FBF6183D8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40" y="5607522"/>
            <a:ext cx="146304" cy="14630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9EA821-AF1B-806D-DBDE-9837538842E6}"/>
              </a:ext>
            </a:extLst>
          </p:cNvPr>
          <p:cNvSpPr/>
          <p:nvPr/>
        </p:nvSpPr>
        <p:spPr>
          <a:xfrm>
            <a:off x="4635846" y="5010250"/>
            <a:ext cx="961329" cy="80918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51C911-5E86-1188-8CB1-66377B5F45EC}"/>
              </a:ext>
            </a:extLst>
          </p:cNvPr>
          <p:cNvSpPr txBox="1"/>
          <p:nvPr/>
        </p:nvSpPr>
        <p:spPr>
          <a:xfrm>
            <a:off x="5619369" y="5145857"/>
            <a:ext cx="1585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tuning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turun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hal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mengindikasikan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positif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sulit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tertangkap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800" b="1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26AFEF-4371-B05D-CF0C-52439E379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650" y="2709586"/>
            <a:ext cx="2789457" cy="274972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4994806-40AF-9D55-0CA3-C30F52737966}"/>
              </a:ext>
            </a:extLst>
          </p:cNvPr>
          <p:cNvSpPr/>
          <p:nvPr/>
        </p:nvSpPr>
        <p:spPr>
          <a:xfrm>
            <a:off x="10249994" y="2586456"/>
            <a:ext cx="619926" cy="92243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1DD67-FE43-9B97-D854-0724687F7B35}"/>
              </a:ext>
            </a:extLst>
          </p:cNvPr>
          <p:cNvSpPr txBox="1"/>
          <p:nvPr/>
        </p:nvSpPr>
        <p:spPr>
          <a:xfrm>
            <a:off x="9550058" y="2179817"/>
            <a:ext cx="20197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Tuning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mengurangi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kebiasaan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(23.7%).</a:t>
            </a:r>
            <a:endParaRPr lang="en-US" sz="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4A896C-65F1-DCC3-1F9D-8099DC6345F8}"/>
              </a:ext>
            </a:extLst>
          </p:cNvPr>
          <p:cNvSpPr txBox="1"/>
          <p:nvPr/>
        </p:nvSpPr>
        <p:spPr>
          <a:xfrm>
            <a:off x="7667104" y="3572937"/>
            <a:ext cx="1290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tuning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justru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semakin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negative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(31,1%).</a:t>
            </a:r>
            <a:endParaRPr lang="en-US" sz="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670DAD-2D12-4B46-D7FA-0998399A34A4}"/>
              </a:ext>
            </a:extLst>
          </p:cNvPr>
          <p:cNvSpPr/>
          <p:nvPr/>
        </p:nvSpPr>
        <p:spPr>
          <a:xfrm>
            <a:off x="8957506" y="3633730"/>
            <a:ext cx="1211930" cy="58542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84C9796-B1A2-93B6-DEC2-80AE6E94E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602" y="3836039"/>
            <a:ext cx="146304" cy="14630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1C4F92E-F032-1E69-164F-72BF07159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876" y="3151705"/>
            <a:ext cx="146559" cy="14655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9DBD9A8-F232-AAA2-BF9D-569D963D3D60}"/>
              </a:ext>
            </a:extLst>
          </p:cNvPr>
          <p:cNvSpPr txBox="1"/>
          <p:nvPr/>
        </p:nvSpPr>
        <p:spPr>
          <a:xfrm>
            <a:off x="9460586" y="5552157"/>
            <a:ext cx="1578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naik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meskipun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turun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hal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justru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error yang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merugikan</a:t>
            </a:r>
            <a:endParaRPr lang="en-US" sz="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824D94-CDC2-F311-DFD3-72B5AE8CC99F}"/>
              </a:ext>
            </a:extLst>
          </p:cNvPr>
          <p:cNvSpPr/>
          <p:nvPr/>
        </p:nvSpPr>
        <p:spPr>
          <a:xfrm>
            <a:off x="9600504" y="4319015"/>
            <a:ext cx="1269407" cy="117605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D0D26E8-5A50-71AB-5CEB-AE6F43EE08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62" y="4545487"/>
            <a:ext cx="146304" cy="14630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B28499D-EAE4-99E0-07AA-FF74DD5E7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261" y="4545487"/>
            <a:ext cx="146559" cy="1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91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819F-3152-9D6A-76CF-8B4B3B72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FF0D12-80C4-549A-E17F-D45A16B77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408606-5361-B0D7-07E7-A1F3509DEFA3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Model Evaluation (LSTM)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5E2DC-AE61-46BF-4995-E9F61A3BC676}"/>
              </a:ext>
            </a:extLst>
          </p:cNvPr>
          <p:cNvSpPr txBox="1"/>
          <p:nvPr/>
        </p:nvSpPr>
        <p:spPr>
          <a:xfrm>
            <a:off x="249466" y="783311"/>
            <a:ext cx="115095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Meskipun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random forest (gap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train dan test),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LSTM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generalisasi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lemah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pada data test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kecenderungan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agresif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memprediksi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(recall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precision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gagal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menangkap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signifikan</a:t>
            </a:r>
            <a:endParaRPr lang="en-US" sz="1400" i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05D891-EC1E-4989-C0D0-E28C4E64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96471"/>
              </p:ext>
            </p:extLst>
          </p:nvPr>
        </p:nvGraphicFramePr>
        <p:xfrm>
          <a:off x="330781" y="2366550"/>
          <a:ext cx="5155096" cy="34557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257">
                  <a:extLst>
                    <a:ext uri="{9D8B030D-6E8A-4147-A177-3AD203B41FA5}">
                      <a16:colId xmlns:a16="http://schemas.microsoft.com/office/drawing/2014/main" val="1022042596"/>
                    </a:ext>
                  </a:extLst>
                </a:gridCol>
                <a:gridCol w="1024487">
                  <a:extLst>
                    <a:ext uri="{9D8B030D-6E8A-4147-A177-3AD203B41FA5}">
                      <a16:colId xmlns:a16="http://schemas.microsoft.com/office/drawing/2014/main" val="238218344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113727338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6508211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1789911354"/>
                    </a:ext>
                  </a:extLst>
                </a:gridCol>
              </a:tblGrid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0188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0.4670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603014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Macro F1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5518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Negatif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0.6241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0.5340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0.4180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9230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0.9434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0.9167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0.8644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96841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0.7513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0.6748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0.5635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0267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Netral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0.7298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0.5538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0.5957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2487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0.8004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0.6000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0.4590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405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0.7635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0.5760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0.5185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7539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Positif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0.9697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0.7692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0.4615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3251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0.3926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0.1639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0.0968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7936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0.5590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0.2703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0.1600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46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59C5BA-9E4B-B304-670A-ADFE6E3179DF}"/>
              </a:ext>
            </a:extLst>
          </p:cNvPr>
          <p:cNvSpPr txBox="1"/>
          <p:nvPr/>
        </p:nvSpPr>
        <p:spPr>
          <a:xfrm>
            <a:off x="249466" y="1757538"/>
            <a:ext cx="6108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LSTM (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 )</a:t>
            </a:r>
            <a:endParaRPr lang="en-US" sz="1200" b="1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228DA9-49DE-D9FC-D114-04E1DF91EB62}"/>
              </a:ext>
            </a:extLst>
          </p:cNvPr>
          <p:cNvSpPr txBox="1"/>
          <p:nvPr/>
        </p:nvSpPr>
        <p:spPr>
          <a:xfrm>
            <a:off x="5650929" y="2238237"/>
            <a:ext cx="16797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LSTM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test yang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(Macro F1 0.414)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gap accuracy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train dan test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kecil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 (-0.2430)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dibandingkan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random forest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meskipun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masih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terindikasi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overfitting </a:t>
            </a:r>
            <a:endParaRPr lang="en-US" sz="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138827-1DF0-632C-ACBF-A8ECFAA88AFC}"/>
              </a:ext>
            </a:extLst>
          </p:cNvPr>
          <p:cNvSpPr txBox="1"/>
          <p:nvPr/>
        </p:nvSpPr>
        <p:spPr>
          <a:xfrm>
            <a:off x="5675859" y="3270699"/>
            <a:ext cx="1368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Prediksi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cenderung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agresif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(recall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precision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C8D7B8-3A8B-DBDA-1317-876BE9C50194}"/>
              </a:ext>
            </a:extLst>
          </p:cNvPr>
          <p:cNvSpPr/>
          <p:nvPr/>
        </p:nvSpPr>
        <p:spPr>
          <a:xfrm>
            <a:off x="2627055" y="2279502"/>
            <a:ext cx="2972359" cy="95410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D8A706-CD10-E0F2-0DE0-DDECFBFBFF9E}"/>
              </a:ext>
            </a:extLst>
          </p:cNvPr>
          <p:cNvGrpSpPr/>
          <p:nvPr/>
        </p:nvGrpSpPr>
        <p:grpSpPr>
          <a:xfrm>
            <a:off x="7260703" y="2119061"/>
            <a:ext cx="365760" cy="4212165"/>
            <a:chOff x="7118428" y="1938588"/>
            <a:chExt cx="365760" cy="421216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B86C113-E5ED-5B8F-A468-AA98B099117D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10B6F80-62A3-F377-2D38-5A1EE1CB4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07CC0EC-6636-E894-0AAF-18F801AC1E21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C5A3849-7049-5347-B30F-E12586051EF2}"/>
              </a:ext>
            </a:extLst>
          </p:cNvPr>
          <p:cNvSpPr/>
          <p:nvPr/>
        </p:nvSpPr>
        <p:spPr>
          <a:xfrm>
            <a:off x="4557669" y="3273450"/>
            <a:ext cx="1041744" cy="56025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CF20D-6F2A-9C01-4412-016EC81F2CED}"/>
              </a:ext>
            </a:extLst>
          </p:cNvPr>
          <p:cNvSpPr/>
          <p:nvPr/>
        </p:nvSpPr>
        <p:spPr>
          <a:xfrm>
            <a:off x="4557669" y="5262063"/>
            <a:ext cx="1041744" cy="56025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F983F-E800-8D01-821F-16210EF35E74}"/>
              </a:ext>
            </a:extLst>
          </p:cNvPr>
          <p:cNvSpPr txBox="1"/>
          <p:nvPr/>
        </p:nvSpPr>
        <p:spPr>
          <a:xfrm>
            <a:off x="5675859" y="5188249"/>
            <a:ext cx="1617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Recall dan F1 Score sangat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bahkan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recall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semua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, yang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berhasil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ditangkap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9.7% </a:t>
            </a:r>
            <a:endParaRPr lang="en-US" sz="8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3B212-96C0-3634-E995-2386CE585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457" y="2298485"/>
            <a:ext cx="3334681" cy="32061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291972-7B9C-6EB6-A94A-2560286EC4E9}"/>
              </a:ext>
            </a:extLst>
          </p:cNvPr>
          <p:cNvSpPr/>
          <p:nvPr/>
        </p:nvSpPr>
        <p:spPr>
          <a:xfrm>
            <a:off x="8526538" y="3286311"/>
            <a:ext cx="1579984" cy="16258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BE528-4C47-644F-2325-F3F019C516AB}"/>
              </a:ext>
            </a:extLst>
          </p:cNvPr>
          <p:cNvSpPr txBox="1"/>
          <p:nvPr/>
        </p:nvSpPr>
        <p:spPr>
          <a:xfrm>
            <a:off x="7673377" y="3315455"/>
            <a:ext cx="8062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agresif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Beberapa data yang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seharusnya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diprediksi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endParaRPr lang="en-US" sz="8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05A45-6329-29E4-4DBF-7D7784993DA0}"/>
              </a:ext>
            </a:extLst>
          </p:cNvPr>
          <p:cNvSpPr/>
          <p:nvPr/>
        </p:nvSpPr>
        <p:spPr>
          <a:xfrm>
            <a:off x="10918706" y="4126802"/>
            <a:ext cx="840316" cy="137784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8F4B7-E720-0F03-FF1D-1ED060FF8092}"/>
              </a:ext>
            </a:extLst>
          </p:cNvPr>
          <p:cNvSpPr txBox="1"/>
          <p:nvPr/>
        </p:nvSpPr>
        <p:spPr>
          <a:xfrm>
            <a:off x="10559957" y="5542192"/>
            <a:ext cx="15257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hampir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eksis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, Hanya 6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tertangkap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benar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Mayoritas</a:t>
            </a:r>
            <a:endParaRPr lang="en-US"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    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dianggap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endParaRPr lang="en-US" sz="8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2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423E-4647-82AF-7254-30CF001D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D5B20E-BFC7-66B9-EE74-391B29987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B18219-0448-80D7-06C2-6EDB4D3E2965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Model Evaluation (LSTM)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E4A79E-DDC5-25EC-468F-332F248C0DA9}"/>
              </a:ext>
            </a:extLst>
          </p:cNvPr>
          <p:cNvSpPr txBox="1"/>
          <p:nvPr/>
        </p:nvSpPr>
        <p:spPr>
          <a:xfrm>
            <a:off x="249466" y="783311"/>
            <a:ext cx="115095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hyperparameter tuning, 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LSTM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seimbang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pada data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validasi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dan test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kemampuan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menangkap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pengurangan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bias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prediksi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berlebih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.”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B2CF07-7FAE-C09A-6881-288D539B0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994771"/>
              </p:ext>
            </p:extLst>
          </p:nvPr>
        </p:nvGraphicFramePr>
        <p:xfrm>
          <a:off x="330781" y="2366550"/>
          <a:ext cx="5155096" cy="34557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257">
                  <a:extLst>
                    <a:ext uri="{9D8B030D-6E8A-4147-A177-3AD203B41FA5}">
                      <a16:colId xmlns:a16="http://schemas.microsoft.com/office/drawing/2014/main" val="1022042596"/>
                    </a:ext>
                  </a:extLst>
                </a:gridCol>
                <a:gridCol w="1024487">
                  <a:extLst>
                    <a:ext uri="{9D8B030D-6E8A-4147-A177-3AD203B41FA5}">
                      <a16:colId xmlns:a16="http://schemas.microsoft.com/office/drawing/2014/main" val="238218344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113727338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465082117"/>
                    </a:ext>
                  </a:extLst>
                </a:gridCol>
                <a:gridCol w="980784">
                  <a:extLst>
                    <a:ext uri="{9D8B030D-6E8A-4147-A177-3AD203B41FA5}">
                      <a16:colId xmlns:a16="http://schemas.microsoft.com/office/drawing/2014/main" val="1789911354"/>
                    </a:ext>
                  </a:extLst>
                </a:gridCol>
              </a:tblGrid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0188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0.5385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603014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Macro F1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5518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Negatif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0.8788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0.6429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0.5316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9230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0.9581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0.7500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0.7119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96841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0.9168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0.6923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0.6087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0267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Netral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0.8651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0.5946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2487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0.9630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0.7333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4051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0.9114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0.6567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0.5574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75390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Positif</a:t>
                      </a:r>
                      <a:endParaRPr lang="en-US" sz="11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0.9770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0.6757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0.5238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3251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0.7812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0.4098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0.3548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79363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F1 Score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0.8682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0.5102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0.4231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46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BB6F96-22B4-3FA9-ED3D-0272ACD882B1}"/>
              </a:ext>
            </a:extLst>
          </p:cNvPr>
          <p:cNvSpPr txBox="1"/>
          <p:nvPr/>
        </p:nvSpPr>
        <p:spPr>
          <a:xfrm>
            <a:off x="249466" y="1842062"/>
            <a:ext cx="6108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LSTM (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 )</a:t>
            </a:r>
            <a:endParaRPr lang="en-US" sz="1200" b="1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91A129-244B-420B-4AE5-B722B76CE271}"/>
              </a:ext>
            </a:extLst>
          </p:cNvPr>
          <p:cNvSpPr txBox="1"/>
          <p:nvPr/>
        </p:nvSpPr>
        <p:spPr>
          <a:xfrm>
            <a:off x="5576388" y="2639140"/>
            <a:ext cx="1610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Tuning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konsisten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di validation dan test,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bukan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di train</a:t>
            </a:r>
            <a:endParaRPr lang="en-US" sz="8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BF96BE0-F1DD-B8C4-8E4B-96FF45C5224F}"/>
              </a:ext>
            </a:extLst>
          </p:cNvPr>
          <p:cNvGrpSpPr/>
          <p:nvPr/>
        </p:nvGrpSpPr>
        <p:grpSpPr>
          <a:xfrm>
            <a:off x="7260703" y="2119061"/>
            <a:ext cx="365760" cy="4212165"/>
            <a:chOff x="7118428" y="1938588"/>
            <a:chExt cx="365760" cy="421216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D2814A0-AC7E-371A-D005-28EE8F963776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1C1AD44-3E86-DD87-67C7-9473D488E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408A13D-A4D6-2E99-5F79-3E71B62E171E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C5500C1-BD10-1D84-393A-92C11D3E12B2}"/>
              </a:ext>
            </a:extLst>
          </p:cNvPr>
          <p:cNvSpPr/>
          <p:nvPr/>
        </p:nvSpPr>
        <p:spPr>
          <a:xfrm>
            <a:off x="2681395" y="2679346"/>
            <a:ext cx="2871178" cy="51321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B8D72A-5A59-5633-E789-C9B85929236A}"/>
              </a:ext>
            </a:extLst>
          </p:cNvPr>
          <p:cNvSpPr/>
          <p:nvPr/>
        </p:nvSpPr>
        <p:spPr>
          <a:xfrm>
            <a:off x="4534644" y="3255269"/>
            <a:ext cx="1041744" cy="8403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A0DFA3-4286-6738-4ED2-B8B272F23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674" y="2724830"/>
            <a:ext cx="146559" cy="1465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B5DB2E-BC8D-FCA8-91E4-96468DD92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674" y="2998453"/>
            <a:ext cx="146559" cy="1465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629112-4669-4611-2720-F4D1FB2DD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537" y="2724830"/>
            <a:ext cx="146559" cy="1465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954815-214B-3BDC-60DE-21B7FAA0B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537" y="2998453"/>
            <a:ext cx="146559" cy="1465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56CF7B-C733-407B-2FD4-E9F9342A5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49" y="2724830"/>
            <a:ext cx="146559" cy="1465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5E9CC7-A02D-E398-9036-31882056B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49" y="2998453"/>
            <a:ext cx="146559" cy="1465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85224B-8C86-8991-BDA3-2D0262C58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48" y="3312275"/>
            <a:ext cx="146559" cy="146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08925D-CBF0-6D5E-3FA7-42C3C3A97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48" y="3618396"/>
            <a:ext cx="146304" cy="1463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DD9239-830F-1E23-E91E-EFB58F62B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719" y="3884414"/>
            <a:ext cx="146559" cy="1465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26330AC-65D5-D828-BBA9-7F1826148537}"/>
              </a:ext>
            </a:extLst>
          </p:cNvPr>
          <p:cNvSpPr txBox="1"/>
          <p:nvPr/>
        </p:nvSpPr>
        <p:spPr>
          <a:xfrm>
            <a:off x="5576388" y="3255269"/>
            <a:ext cx="14963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Model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akurat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saat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memprediksi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(precision naik). Tapi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sedikit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menangkap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kasus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negatif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(recall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turun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E5F95A-8BDB-1C93-A10C-0A296290B1A3}"/>
              </a:ext>
            </a:extLst>
          </p:cNvPr>
          <p:cNvSpPr/>
          <p:nvPr/>
        </p:nvSpPr>
        <p:spPr>
          <a:xfrm>
            <a:off x="4534644" y="4150687"/>
            <a:ext cx="1041744" cy="8403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5E3D148-D600-2E1F-44BE-1778B7FAA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719" y="4456553"/>
            <a:ext cx="146559" cy="1465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33C75D1-6940-DCFF-F2CD-91AE231E2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719" y="4762419"/>
            <a:ext cx="146559" cy="1465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D6F329-D383-C7A7-EF02-283A1B4547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974" y="4209549"/>
            <a:ext cx="146304" cy="1463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4461E89-3DC0-FFC9-CA3E-030B26C81A3A}"/>
              </a:ext>
            </a:extLst>
          </p:cNvPr>
          <p:cNvSpPr txBox="1"/>
          <p:nvPr/>
        </p:nvSpPr>
        <p:spPr>
          <a:xfrm>
            <a:off x="5610142" y="4225040"/>
            <a:ext cx="149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Meskipun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penurunan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sisi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precision,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netral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seimbang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condong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sisi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  <a:endParaRPr lang="en-US" sz="8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E24DAAA-F4C3-EE31-BED0-BC847B407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593" y="5588587"/>
            <a:ext cx="146559" cy="1465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219BC3-3BD9-0EC6-1E9E-6E41DF0D0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718" y="5331809"/>
            <a:ext cx="146559" cy="14655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665AD5E-0BFD-4FBA-90B1-49D233A06ACF}"/>
              </a:ext>
            </a:extLst>
          </p:cNvPr>
          <p:cNvSpPr/>
          <p:nvPr/>
        </p:nvSpPr>
        <p:spPr>
          <a:xfrm>
            <a:off x="4534643" y="5234369"/>
            <a:ext cx="1068615" cy="688654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F050C2-4DE1-A5FB-731E-983D97F19C94}"/>
              </a:ext>
            </a:extLst>
          </p:cNvPr>
          <p:cNvSpPr txBox="1"/>
          <p:nvPr/>
        </p:nvSpPr>
        <p:spPr>
          <a:xfrm>
            <a:off x="5623569" y="5208995"/>
            <a:ext cx="14963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Tuning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LSTM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jauh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bagus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menangkap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sentiment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(recall dan F1 naik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signifikan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endParaRPr lang="en-US" sz="800" b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0443BA-9166-8B61-C6AC-635A0E037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734" y="2574519"/>
            <a:ext cx="3119485" cy="304214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61D7ED1-EFC1-04ED-A3F9-24FD04E493E8}"/>
              </a:ext>
            </a:extLst>
          </p:cNvPr>
          <p:cNvSpPr/>
          <p:nvPr/>
        </p:nvSpPr>
        <p:spPr>
          <a:xfrm>
            <a:off x="8755161" y="3278260"/>
            <a:ext cx="1632594" cy="19226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2208960-7B0D-B137-42CB-B9581D5FA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436" y="3820236"/>
            <a:ext cx="146559" cy="1465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2026EEB-DEEC-7008-DCF7-4773894A2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715" y="4607809"/>
            <a:ext cx="146559" cy="14655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DE501ED-4B4F-ECB5-8C6B-3E40F3FCECF6}"/>
              </a:ext>
            </a:extLst>
          </p:cNvPr>
          <p:cNvSpPr txBox="1"/>
          <p:nvPr/>
        </p:nvSpPr>
        <p:spPr>
          <a:xfrm>
            <a:off x="7868133" y="3524856"/>
            <a:ext cx="7869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Hasil tuning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error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seimbang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dan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err="1">
                <a:latin typeface="Poppins" panose="00000500000000000000" pitchFamily="2" charset="0"/>
                <a:cs typeface="Poppins" panose="00000500000000000000" pitchFamily="2" charset="0"/>
              </a:rPr>
              <a:t>tertangkap</a:t>
            </a:r>
            <a:endParaRPr lang="en-US" sz="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CF6CA0-1C19-0503-F4B3-D3F78A4B1321}"/>
              </a:ext>
            </a:extLst>
          </p:cNvPr>
          <p:cNvSpPr/>
          <p:nvPr/>
        </p:nvSpPr>
        <p:spPr>
          <a:xfrm>
            <a:off x="10962968" y="4126802"/>
            <a:ext cx="796054" cy="14898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B530926-C44A-5568-91EB-73DD70B83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029" y="4646349"/>
            <a:ext cx="146559" cy="14655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4F8AA6A-F81A-A08A-0A37-872BFD997742}"/>
              </a:ext>
            </a:extLst>
          </p:cNvPr>
          <p:cNvSpPr txBox="1"/>
          <p:nvPr/>
        </p:nvSpPr>
        <p:spPr>
          <a:xfrm>
            <a:off x="10666189" y="5673323"/>
            <a:ext cx="1389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Deteksi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positif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meningkat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b="1" err="1">
                <a:latin typeface="Poppins" panose="00000500000000000000" pitchFamily="2" charset="0"/>
                <a:cs typeface="Poppins" panose="00000500000000000000" pitchFamily="2" charset="0"/>
              </a:rPr>
              <a:t>signifikan</a:t>
            </a:r>
            <a:r>
              <a:rPr lang="en-US" sz="8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dan </a:t>
            </a:r>
            <a:r>
              <a:rPr lang="sv-SE" sz="800">
                <a:latin typeface="Poppins" panose="00000500000000000000" pitchFamily="2" charset="0"/>
                <a:cs typeface="Poppins" panose="00000500000000000000" pitchFamily="2" charset="0"/>
              </a:rPr>
              <a:t>error kini lebih seimbang antar kelas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772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F94C-E5CE-702C-C248-E2402DA9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64780D-54E4-7CF7-52E8-49DE57B47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0116FA-846B-2C85-BD4B-0B2CEE8AEBA0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Model Evaluation (LSTM)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CE6F0D-0957-069D-25EF-C5959AF4F43B}"/>
              </a:ext>
            </a:extLst>
          </p:cNvPr>
          <p:cNvSpPr txBox="1"/>
          <p:nvPr/>
        </p:nvSpPr>
        <p:spPr>
          <a:xfrm>
            <a:off x="329332" y="783311"/>
            <a:ext cx="114296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hyperparameter tuning,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kurva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loss dan accuracy LSTM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pembelajaran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dan optimal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validation accuracy yang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meningkat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cepat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mencapai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level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dibandingkan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model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tuning,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meskipun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indikasi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penurunan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tipis di epoch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akhir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92CDC-8383-1007-4DB4-997AFCC99C40}"/>
              </a:ext>
            </a:extLst>
          </p:cNvPr>
          <p:cNvSpPr txBox="1"/>
          <p:nvPr/>
        </p:nvSpPr>
        <p:spPr>
          <a:xfrm>
            <a:off x="817802" y="1762882"/>
            <a:ext cx="4215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Plot Loss LSTM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</a:t>
            </a:r>
            <a:endParaRPr lang="en-US" sz="1200" b="1" u="sng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46AF54-DB81-59F1-AD6B-074A90F936B7}"/>
              </a:ext>
            </a:extLst>
          </p:cNvPr>
          <p:cNvGrpSpPr/>
          <p:nvPr/>
        </p:nvGrpSpPr>
        <p:grpSpPr>
          <a:xfrm>
            <a:off x="1149084" y="2215055"/>
            <a:ext cx="3198440" cy="4456220"/>
            <a:chOff x="6659894" y="2168484"/>
            <a:chExt cx="2632737" cy="36680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3241310-E928-DCF0-3D67-AF45B021A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894" y="2168484"/>
              <a:ext cx="2494920" cy="165242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438C349-7FC7-EA96-0A02-1B7A9640E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9894" y="4188982"/>
              <a:ext cx="2632737" cy="164755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F207B9-08A0-D790-2781-C007D7C6B52B}"/>
              </a:ext>
            </a:extLst>
          </p:cNvPr>
          <p:cNvGrpSpPr/>
          <p:nvPr/>
        </p:nvGrpSpPr>
        <p:grpSpPr>
          <a:xfrm>
            <a:off x="7525983" y="2256814"/>
            <a:ext cx="3198440" cy="4414461"/>
            <a:chOff x="6607099" y="4728316"/>
            <a:chExt cx="2583206" cy="356532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1081D9-715A-9ED0-4307-AAF0909DA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07099" y="4728316"/>
              <a:ext cx="2583206" cy="163106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41F3556-EB45-D096-29D1-FEDBD9655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7099" y="6636879"/>
              <a:ext cx="2583206" cy="1656758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F216217-DC1C-E86E-377E-03628BF26F44}"/>
              </a:ext>
            </a:extLst>
          </p:cNvPr>
          <p:cNvSpPr txBox="1"/>
          <p:nvPr/>
        </p:nvSpPr>
        <p:spPr>
          <a:xfrm>
            <a:off x="7017479" y="1762282"/>
            <a:ext cx="4215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Plot Loss LSTM </a:t>
            </a:r>
            <a:r>
              <a:rPr lang="en-US" sz="1200" b="1" u="sng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1200" b="1" u="sng">
                <a:latin typeface="Poppins" panose="00000500000000000000" pitchFamily="2" charset="0"/>
                <a:cs typeface="Poppins" panose="00000500000000000000" pitchFamily="2" charset="0"/>
              </a:rPr>
              <a:t> Hyper Parameter Tuning</a:t>
            </a:r>
            <a:endParaRPr lang="en-US" sz="1200" b="1" u="sng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807EBE-DA48-1E9A-484E-A92325D91E19}"/>
              </a:ext>
            </a:extLst>
          </p:cNvPr>
          <p:cNvSpPr txBox="1"/>
          <p:nvPr/>
        </p:nvSpPr>
        <p:spPr>
          <a:xfrm>
            <a:off x="4859911" y="2841437"/>
            <a:ext cx="20582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Validation loss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terlihat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lama 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kenaikan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lambat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9E3F99-904C-CB7B-3270-71F54C3C157C}"/>
              </a:ext>
            </a:extLst>
          </p:cNvPr>
          <p:cNvSpPr txBox="1"/>
          <p:nvPr/>
        </p:nvSpPr>
        <p:spPr>
          <a:xfrm>
            <a:off x="1467577" y="2693542"/>
            <a:ext cx="3064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</a:t>
            </a:r>
            <a:endParaRPr lang="en-US" sz="70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2CF0AD-6776-E92E-C90B-96FE6DA2891A}"/>
              </a:ext>
            </a:extLst>
          </p:cNvPr>
          <p:cNvSpPr txBox="1"/>
          <p:nvPr/>
        </p:nvSpPr>
        <p:spPr>
          <a:xfrm>
            <a:off x="8215759" y="2935945"/>
            <a:ext cx="3064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</a:t>
            </a:r>
            <a:endParaRPr lang="en-US" sz="70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3F622A-FE1B-6A65-EADD-DCD291AD9A2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1620778" y="2793569"/>
            <a:ext cx="3239133" cy="3248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9881A0-9319-33EB-1E73-7578F0A0D009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6918158" y="3032946"/>
            <a:ext cx="1450802" cy="854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B7FCBE0-BE9C-4E4B-1B13-9228B5C2FCAB}"/>
              </a:ext>
            </a:extLst>
          </p:cNvPr>
          <p:cNvSpPr txBox="1"/>
          <p:nvPr/>
        </p:nvSpPr>
        <p:spPr>
          <a:xfrm>
            <a:off x="4780497" y="5407394"/>
            <a:ext cx="23596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Validation accuracy naik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cepat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melandai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menurun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 tipis di epoch </a:t>
            </a:r>
            <a:r>
              <a:rPr lang="en-US" sz="1000" err="1">
                <a:latin typeface="Poppins" panose="00000500000000000000" pitchFamily="2" charset="0"/>
                <a:cs typeface="Poppins" panose="00000500000000000000" pitchFamily="2" charset="0"/>
              </a:rPr>
              <a:t>akhir</a:t>
            </a:r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1774472-D686-EBA9-3E99-FA2C203F6EF2}"/>
              </a:ext>
            </a:extLst>
          </p:cNvPr>
          <p:cNvCxnSpPr>
            <a:cxnSpLocks/>
          </p:cNvCxnSpPr>
          <p:nvPr/>
        </p:nvCxnSpPr>
        <p:spPr>
          <a:xfrm flipV="1">
            <a:off x="1773979" y="5749518"/>
            <a:ext cx="3085931" cy="29329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18BC890-699B-40D1-55E5-6962415A2F80}"/>
              </a:ext>
            </a:extLst>
          </p:cNvPr>
          <p:cNvSpPr txBox="1"/>
          <p:nvPr/>
        </p:nvSpPr>
        <p:spPr>
          <a:xfrm>
            <a:off x="1620778" y="5942784"/>
            <a:ext cx="3064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</a:t>
            </a:r>
            <a:endParaRPr lang="en-US" sz="7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7AB49A-84D6-BF93-1FD0-624A24A450B4}"/>
              </a:ext>
            </a:extLst>
          </p:cNvPr>
          <p:cNvSpPr txBox="1"/>
          <p:nvPr/>
        </p:nvSpPr>
        <p:spPr>
          <a:xfrm>
            <a:off x="8215758" y="5761337"/>
            <a:ext cx="3064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</a:t>
            </a:r>
            <a:endParaRPr lang="en-US" sz="700">
              <a:solidFill>
                <a:srgbClr val="FF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05FF3C3-F7F1-9532-4E03-D2907EE989F8}"/>
              </a:ext>
            </a:extLst>
          </p:cNvPr>
          <p:cNvCxnSpPr>
            <a:cxnSpLocks/>
          </p:cNvCxnSpPr>
          <p:nvPr/>
        </p:nvCxnSpPr>
        <p:spPr>
          <a:xfrm flipH="1" flipV="1">
            <a:off x="7061627" y="5711798"/>
            <a:ext cx="1307332" cy="1495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370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D2C0-59F4-849E-FC6A-CAEA3BAA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947541-F760-BEE7-3F52-DCAFB33D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23EE1B-43CB-4ABE-0137-403C70FEBA09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Kesimpulan &amp; </a:t>
            </a:r>
            <a:r>
              <a:rPr lang="en-US" sz="1600" b="1" err="1">
                <a:latin typeface="Poppins" panose="00000500000000000000" pitchFamily="2" charset="0"/>
                <a:cs typeface="Poppins" panose="00000500000000000000" pitchFamily="2" charset="0"/>
              </a:rPr>
              <a:t>Rekomendasi</a:t>
            </a:r>
            <a:endParaRPr lang="en-US" sz="1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031BD7-6AF0-75E5-CC47-7E8B7075004D}"/>
              </a:ext>
            </a:extLst>
          </p:cNvPr>
          <p:cNvSpPr txBox="1"/>
          <p:nvPr/>
        </p:nvSpPr>
        <p:spPr>
          <a:xfrm>
            <a:off x="365164" y="727353"/>
            <a:ext cx="114969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Tuned LSTM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seimbang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andal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kasus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Pilpres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2019 pada twitter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dibandingkan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model random forest,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Beberapa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kedepannya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perlu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hal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berikut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DCE19-5A54-626D-A47F-B0ED242FC060}"/>
              </a:ext>
            </a:extLst>
          </p:cNvPr>
          <p:cNvSpPr/>
          <p:nvPr/>
        </p:nvSpPr>
        <p:spPr>
          <a:xfrm>
            <a:off x="815054" y="1816274"/>
            <a:ext cx="4796607" cy="4896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89221-A6AA-82C8-D771-E9C9DA6143D2}"/>
              </a:ext>
            </a:extLst>
          </p:cNvPr>
          <p:cNvSpPr txBox="1"/>
          <p:nvPr/>
        </p:nvSpPr>
        <p:spPr>
          <a:xfrm>
            <a:off x="935528" y="2314649"/>
            <a:ext cx="45556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defRPr/>
            </a:pP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Model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Terbaik</a:t>
            </a:r>
            <a:endParaRPr lang="en-US" sz="1200" b="1" u="sng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46075" lvl="1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Tuned LSTM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dipilih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sebagai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final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karena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memiliki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performa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test set yang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baik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dibanding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Tuned TF-IDF + Random Forest,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baik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dari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sisi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accuracy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maupun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macro F1,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sehingga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representatif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generalisasi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opini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publik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lvl="0" defTabSz="914377">
              <a:defRPr/>
            </a:pPr>
            <a:endParaRPr lang="en-US" sz="1200" b="1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Generalisasi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</a:t>
            </a: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Random Forest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unggul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data train dan validation,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tetapi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performanya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menurun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test set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mengindikasikan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generalisasi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yang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kurang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stabil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LSTM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menunjukkan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performa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train yang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rendah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namun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konsisten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test set,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sehingga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robust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terhadap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data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baru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lvl="0" defTabSz="914377">
              <a:defRPr/>
            </a:pPr>
            <a:endParaRPr lang="en-US" sz="1200" b="1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Performa Per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Kelas</a:t>
            </a:r>
            <a:endParaRPr lang="en-US" sz="1200" b="1" u="sng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Kedua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masih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lemah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positif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namun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LSTM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memiliki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recall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positif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negatif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yang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baik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Random Forest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sedikit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unggul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kelas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netral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yang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cenderung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berbasis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kata-kata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eksplisit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076439-55AB-3265-DC66-BDBBA73A5128}"/>
              </a:ext>
            </a:extLst>
          </p:cNvPr>
          <p:cNvGrpSpPr/>
          <p:nvPr/>
        </p:nvGrpSpPr>
        <p:grpSpPr>
          <a:xfrm>
            <a:off x="680243" y="1589567"/>
            <a:ext cx="2052223" cy="457200"/>
            <a:chOff x="1364745" y="1768710"/>
            <a:chExt cx="2052223" cy="457200"/>
          </a:xfrm>
        </p:grpSpPr>
        <p:sp>
          <p:nvSpPr>
            <p:cNvPr id="12" name="Google Shape;456;p42">
              <a:extLst>
                <a:ext uri="{FF2B5EF4-FFF2-40B4-BE49-F238E27FC236}">
                  <a16:creationId xmlns:a16="http://schemas.microsoft.com/office/drawing/2014/main" id="{1CFA7D4E-4A6A-6287-F64F-6B730AED25C0}"/>
                </a:ext>
              </a:extLst>
            </p:cNvPr>
            <p:cNvSpPr/>
            <p:nvPr/>
          </p:nvSpPr>
          <p:spPr>
            <a:xfrm>
              <a:off x="1364745" y="1768710"/>
              <a:ext cx="2052223" cy="457200"/>
            </a:xfrm>
            <a:prstGeom prst="roundRect">
              <a:avLst/>
            </a:prstGeom>
            <a:gradFill>
              <a:gsLst>
                <a:gs pos="71000">
                  <a:schemeClr val="tx1"/>
                </a:gs>
                <a:gs pos="93000">
                  <a:schemeClr val="tx1">
                    <a:lumMod val="50000"/>
                    <a:lumOff val="50000"/>
                  </a:schemeClr>
                </a:gs>
              </a:gsLst>
              <a:lin ang="0" scaled="1"/>
            </a:gra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457200" marR="0" lvl="1" indent="0" algn="l" defTabSz="914378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Kesimpulan</a:t>
              </a:r>
              <a:endPara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</p:txBody>
        </p:sp>
        <p:pic>
          <p:nvPicPr>
            <p:cNvPr id="14" name="Graphic 13" descr="Bullseye with solid fill">
              <a:extLst>
                <a:ext uri="{FF2B5EF4-FFF2-40B4-BE49-F238E27FC236}">
                  <a16:creationId xmlns:a16="http://schemas.microsoft.com/office/drawing/2014/main" id="{94989197-A7C2-7392-0645-D24AC3E848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9564" y="1818893"/>
              <a:ext cx="347806" cy="347806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1F5293-D1A1-52F6-C224-0C0F8EA873C1}"/>
              </a:ext>
            </a:extLst>
          </p:cNvPr>
          <p:cNvGrpSpPr/>
          <p:nvPr/>
        </p:nvGrpSpPr>
        <p:grpSpPr>
          <a:xfrm>
            <a:off x="5762390" y="2158571"/>
            <a:ext cx="365760" cy="4212165"/>
            <a:chOff x="7118428" y="1938588"/>
            <a:chExt cx="365760" cy="421216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C66A18E-7279-A69D-62C9-23EC8A2BE02D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616D97E-9017-C7FB-EBC5-3D0FD8B6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830F38-6836-AB5E-B243-FA22C1D34B8F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B622-9102-382D-0C81-00ABCFB50863}"/>
              </a:ext>
            </a:extLst>
          </p:cNvPr>
          <p:cNvSpPr/>
          <p:nvPr/>
        </p:nvSpPr>
        <p:spPr>
          <a:xfrm>
            <a:off x="6459863" y="1801082"/>
            <a:ext cx="5402283" cy="4896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0BACBF-7A16-51ED-7962-0CF0FCA2C472}"/>
              </a:ext>
            </a:extLst>
          </p:cNvPr>
          <p:cNvSpPr txBox="1"/>
          <p:nvPr/>
        </p:nvSpPr>
        <p:spPr>
          <a:xfrm>
            <a:off x="6580339" y="2129983"/>
            <a:ext cx="5181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Evaluasi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Klasik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Tambahan</a:t>
            </a:r>
            <a:endParaRPr lang="en-US" sz="1200" b="1" u="sng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Menguji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klasik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lain yang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sesuai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TF‑IDF,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seperti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Logistic Regression dan Linear SVM,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sebagai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pembanding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tambahan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selain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Random Forest.</a:t>
            </a: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Penerapan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Model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Transformer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Bahasa Indonesia</a:t>
            </a:r>
            <a:endParaRPr lang="en-US" sz="1200" b="1" u="sng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Mencoba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model transformer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bahasa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Indonesia 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(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misalnya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IndoBERT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)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meningkatkan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pemahaman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konteks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terutama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klasifikasi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sentimen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positif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Perbandingan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Representasi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Teks</a:t>
            </a: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Mengevaluasi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representasi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teks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alternatif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(Word2Vec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atau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pretrained embeddings) dan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membandingkannya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dengan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embedding pada LSTM.</a:t>
            </a: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Penguatan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Arsitektur</a:t>
            </a:r>
            <a:r>
              <a:rPr lang="en-U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Sequence-Based</a:t>
            </a: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Mengembangkan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arsitektur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sequence-based yang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kuat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seperti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BiLSTM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atau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LSTM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dengan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Attention, agar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lebih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peka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terhadap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urutan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kata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penting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  <a:p>
            <a:pPr lvl="0" defTabSz="914377">
              <a:defRPr/>
            </a:pPr>
            <a:endParaRPr lang="es-ES" sz="1200" b="1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Analisis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Error pada </a:t>
            </a: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Kelas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Netral</a:t>
            </a:r>
            <a:r>
              <a:rPr lang="es-ES" sz="1200" b="1" u="sng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s-ES" sz="1200" b="1" u="sng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Positif</a:t>
            </a:r>
            <a:endParaRPr lang="en-US" sz="1200" b="1" u="sng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Melakukan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analisis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error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terfokus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pada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kelas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positif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ataupun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b="1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netral</a:t>
            </a:r>
            <a:r>
              <a:rPr lang="en-US" sz="1200" b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untuk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mengidentifikasi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pola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kesalahan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dan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memperbaiki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preprocessing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maupun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 strategi </a:t>
            </a:r>
            <a:r>
              <a:rPr lang="en-US" sz="1200" err="1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pemodelan</a:t>
            </a:r>
            <a:r>
              <a:rPr lang="en-US" sz="1200">
                <a:solidFill>
                  <a:prstClr val="black"/>
                </a:solidFill>
                <a:latin typeface="Poppins" pitchFamily="2" charset="77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28" name="Google Shape;456;p42">
            <a:extLst>
              <a:ext uri="{FF2B5EF4-FFF2-40B4-BE49-F238E27FC236}">
                <a16:creationId xmlns:a16="http://schemas.microsoft.com/office/drawing/2014/main" id="{DE84ADE7-BA35-16C3-AC17-3B7CF7561C7E}"/>
              </a:ext>
            </a:extLst>
          </p:cNvPr>
          <p:cNvSpPr/>
          <p:nvPr/>
        </p:nvSpPr>
        <p:spPr>
          <a:xfrm>
            <a:off x="6278880" y="1596115"/>
            <a:ext cx="2052223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Rekomendasi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F955AF-77EB-6A4B-C91C-D5469183829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29" y="1667918"/>
            <a:ext cx="326916" cy="3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45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AA76-3F15-7C21-0ACC-B89A86E6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BCB7D3-1147-2F0F-2DB0-82521A4CE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A2BED3-FD6C-DE84-5DCC-B10AE0CDB4D6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Poppins"/>
                <a:cs typeface="Poppins"/>
              </a:rPr>
              <a:t>Kesimpulan &amp; </a:t>
            </a:r>
            <a:r>
              <a:rPr lang="en-US" sz="1600" b="1" err="1">
                <a:latin typeface="Poppins"/>
                <a:cs typeface="Poppins"/>
              </a:rPr>
              <a:t>Rekomendasi</a:t>
            </a:r>
            <a:r>
              <a:rPr lang="en-US" sz="1600" b="1">
                <a:latin typeface="Poppins"/>
                <a:cs typeface="Poppins"/>
              </a:rPr>
              <a:t> </a:t>
            </a:r>
            <a:r>
              <a:rPr lang="en-US" sz="1600" b="1" err="1">
                <a:latin typeface="Poppins"/>
                <a:cs typeface="Poppins"/>
              </a:rPr>
              <a:t>Bisnis</a:t>
            </a:r>
            <a:endParaRPr lang="en-US" sz="1600" b="1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402095-5164-BDFD-9222-7101B777B8BA}"/>
              </a:ext>
            </a:extLst>
          </p:cNvPr>
          <p:cNvSpPr txBox="1"/>
          <p:nvPr/>
        </p:nvSpPr>
        <p:spPr>
          <a:xfrm>
            <a:off x="365164" y="727353"/>
            <a:ext cx="114969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Tuned LSTM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seimbang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400" b="1" i="1" err="1">
                <a:latin typeface="Poppins" panose="00000500000000000000" pitchFamily="2" charset="0"/>
                <a:cs typeface="Poppins" panose="00000500000000000000" pitchFamily="2" charset="0"/>
              </a:rPr>
              <a:t>andal</a:t>
            </a:r>
            <a:r>
              <a:rPr lang="en-US" sz="1400" b="1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kasus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sentimen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Pilpres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2019 pada twitter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dibandingkan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model random forest,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namun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Beberapa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kedepannya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perlu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hal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i="1" err="1">
                <a:latin typeface="Poppins" panose="00000500000000000000" pitchFamily="2" charset="0"/>
                <a:cs typeface="Poppins" panose="00000500000000000000" pitchFamily="2" charset="0"/>
              </a:rPr>
              <a:t>berikut</a:t>
            </a:r>
            <a:r>
              <a:rPr lang="en-US" sz="1400" i="1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DF6CA-704B-5A24-3147-8A518D75EDB7}"/>
              </a:ext>
            </a:extLst>
          </p:cNvPr>
          <p:cNvSpPr/>
          <p:nvPr/>
        </p:nvSpPr>
        <p:spPr>
          <a:xfrm>
            <a:off x="815054" y="1816274"/>
            <a:ext cx="4796607" cy="4896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6EE8E-2540-0C25-1692-5730F918FDA9}"/>
              </a:ext>
            </a:extLst>
          </p:cNvPr>
          <p:cNvSpPr txBox="1"/>
          <p:nvPr/>
        </p:nvSpPr>
        <p:spPr>
          <a:xfrm>
            <a:off x="935528" y="2314649"/>
            <a:ext cx="4555657" cy="35702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defRPr/>
            </a:pP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Ekonomi 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menjadi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 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perhatian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 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utama</a:t>
            </a:r>
            <a:endParaRPr lang="en-US" err="1">
              <a:solidFill>
                <a:prstClr val="black"/>
              </a:solidFill>
            </a:endParaRPr>
          </a:p>
          <a:p>
            <a:pPr marL="346075" lvl="1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Pada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uni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-bigram 20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teratas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, kata-kata yang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merujuk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pada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ekonomi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menempati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urutan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 10 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teratas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(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ekonomi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gaji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ambil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gaji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ekonomi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Poppins"/>
                <a:cs typeface="Poppins"/>
              </a:rPr>
              <a:t>indonesia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</a:rPr>
              <a:t>)</a:t>
            </a: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lvl="0" defTabSz="914377">
              <a:defRPr/>
            </a:pPr>
            <a:endParaRPr lang="en-US" sz="1200" b="1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lvl="0" defTabSz="914377">
              <a:defRPr/>
            </a:pP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Performa Per 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Kelas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  <a:sym typeface="Arial"/>
            </a:endParaRPr>
          </a:p>
          <a:p>
            <a:pPr marL="337820" indent="-171450" defTabSz="914377">
              <a:buFont typeface="Calibri" panose="020B0604020202020204" pitchFamily="34" charset="0"/>
              <a:buChar char="-"/>
              <a:defRPr/>
            </a:pPr>
            <a:r>
              <a:rPr lang="en-US" sz="12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…</a:t>
            </a:r>
            <a:endParaRPr lang="en-US" sz="1200">
              <a:solidFill>
                <a:prstClr val="black"/>
              </a:solidFill>
              <a:latin typeface="Poppins"/>
              <a:cs typeface="Poppins"/>
            </a:endParaRPr>
          </a:p>
          <a:p>
            <a:pPr marL="337820" lvl="0" indent="-171450" defTabSz="914377">
              <a:buFont typeface="Calibri" panose="020B0604020202020204" pitchFamily="34" charset="0"/>
              <a:buChar char="-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 defTabSz="914377">
              <a:spcAft>
                <a:spcPts val="1200"/>
              </a:spcAft>
              <a:buFont typeface="Calibri" panose="020B0604020202020204" pitchFamily="34" charset="0"/>
              <a:buChar char="-"/>
              <a:defRPr/>
            </a:pP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Mengukur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distribusi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dan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trensentimen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publik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secara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objektif</a:t>
            </a:r>
            <a:endParaRPr lang="en-US" sz="1100" b="1">
              <a:solidFill>
                <a:prstClr val="black"/>
              </a:solidFill>
              <a:latin typeface="Poppins"/>
              <a:cs typeface="Poppins"/>
            </a:endParaRPr>
          </a:p>
          <a:p>
            <a:pPr defTabSz="914377">
              <a:spcAft>
                <a:spcPts val="1200"/>
              </a:spcAft>
              <a:defRPr/>
            </a:pP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terhadap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pelaksanaan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Pilpres2019.</a:t>
            </a:r>
            <a:endParaRPr lang="en-US">
              <a:solidFill>
                <a:prstClr val="black"/>
              </a:solidFill>
              <a:latin typeface="Poppins"/>
              <a:cs typeface="Poppins"/>
            </a:endParaRPr>
          </a:p>
          <a:p>
            <a:pPr marL="171450" indent="-171450" defTabSz="914377">
              <a:spcAft>
                <a:spcPts val="1200"/>
              </a:spcAft>
              <a:buFont typeface="Calibri" panose="020B0604020202020204" pitchFamily="34" charset="0"/>
              <a:buChar char="-"/>
              <a:defRPr/>
            </a:pP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Mengidentifikasi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isu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dan 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perhatian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utama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b="1" err="1">
                <a:solidFill>
                  <a:prstClr val="black"/>
                </a:solidFill>
                <a:latin typeface="Poppins"/>
                <a:cs typeface="Poppins"/>
              </a:rPr>
              <a:t>masyarakat</a:t>
            </a:r>
            <a:r>
              <a:rPr lang="en-US" sz="1100" b="1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endParaRPr lang="en-US">
              <a:solidFill>
                <a:prstClr val="black"/>
              </a:solidFill>
              <a:latin typeface="Poppins"/>
              <a:cs typeface="Poppins"/>
            </a:endParaRPr>
          </a:p>
          <a:p>
            <a:pPr defTabSz="914377">
              <a:spcAft>
                <a:spcPts val="12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pada masing‑masing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kategori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sentimen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(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positif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,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netral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, 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dannegatif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),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sehingga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dapat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 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menjadi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dasar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evaluasi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danperbaikan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padapenyelenggaraan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pemilu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dimasa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 </a:t>
            </a:r>
            <a:r>
              <a:rPr lang="en-US" sz="1100" err="1">
                <a:solidFill>
                  <a:prstClr val="black"/>
                </a:solidFill>
                <a:latin typeface="Poppins"/>
                <a:cs typeface="Poppins"/>
              </a:rPr>
              <a:t>mendatang</a:t>
            </a:r>
            <a:r>
              <a:rPr lang="en-US" sz="1100">
                <a:solidFill>
                  <a:prstClr val="black"/>
                </a:solidFill>
                <a:latin typeface="Poppins"/>
                <a:cs typeface="Poppins"/>
              </a:rPr>
              <a:t>.</a:t>
            </a:r>
            <a:endParaRPr lang="en-US">
              <a:solidFill>
                <a:prstClr val="black"/>
              </a:solidFill>
              <a:latin typeface="Poppins"/>
              <a:cs typeface="Poppin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56963-C395-CEFC-0BCE-0C9326DCDD1D}"/>
              </a:ext>
            </a:extLst>
          </p:cNvPr>
          <p:cNvGrpSpPr/>
          <p:nvPr/>
        </p:nvGrpSpPr>
        <p:grpSpPr>
          <a:xfrm>
            <a:off x="680243" y="1589567"/>
            <a:ext cx="2052223" cy="457200"/>
            <a:chOff x="1364745" y="1768710"/>
            <a:chExt cx="2052223" cy="457200"/>
          </a:xfrm>
        </p:grpSpPr>
        <p:sp>
          <p:nvSpPr>
            <p:cNvPr id="12" name="Google Shape;456;p42">
              <a:extLst>
                <a:ext uri="{FF2B5EF4-FFF2-40B4-BE49-F238E27FC236}">
                  <a16:creationId xmlns:a16="http://schemas.microsoft.com/office/drawing/2014/main" id="{E9AB07A4-BFAF-21B4-A9D8-D57B0C0955B6}"/>
                </a:ext>
              </a:extLst>
            </p:cNvPr>
            <p:cNvSpPr/>
            <p:nvPr/>
          </p:nvSpPr>
          <p:spPr>
            <a:xfrm>
              <a:off x="1364745" y="1768710"/>
              <a:ext cx="2052223" cy="457200"/>
            </a:xfrm>
            <a:prstGeom prst="roundRect">
              <a:avLst/>
            </a:prstGeom>
            <a:gradFill>
              <a:gsLst>
                <a:gs pos="71000">
                  <a:schemeClr val="tx1"/>
                </a:gs>
                <a:gs pos="93000">
                  <a:schemeClr val="tx1">
                    <a:lumMod val="50000"/>
                    <a:lumOff val="50000"/>
                  </a:schemeClr>
                </a:gs>
              </a:gsLst>
              <a:lin ang="0" scaled="1"/>
            </a:gra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457200" marR="0" lvl="1" indent="0" algn="l" defTabSz="914378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Kesimpulan</a:t>
              </a:r>
              <a:endPara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</p:txBody>
        </p:sp>
        <p:pic>
          <p:nvPicPr>
            <p:cNvPr id="14" name="Graphic 13" descr="Bullseye with solid fill">
              <a:extLst>
                <a:ext uri="{FF2B5EF4-FFF2-40B4-BE49-F238E27FC236}">
                  <a16:creationId xmlns:a16="http://schemas.microsoft.com/office/drawing/2014/main" id="{32807A8A-A5F7-CA35-5D3D-9739283496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9564" y="1818893"/>
              <a:ext cx="347806" cy="347806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567C93-3F29-BFA6-D817-52B6F410C3E5}"/>
              </a:ext>
            </a:extLst>
          </p:cNvPr>
          <p:cNvGrpSpPr/>
          <p:nvPr/>
        </p:nvGrpSpPr>
        <p:grpSpPr>
          <a:xfrm>
            <a:off x="5762390" y="2158571"/>
            <a:ext cx="365760" cy="4212165"/>
            <a:chOff x="7118428" y="1938588"/>
            <a:chExt cx="365760" cy="421216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2D419FC-307D-6451-FBE6-3D3343B8BAF0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1938588"/>
              <a:ext cx="0" cy="175878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E8DC8D6-D30C-E2C2-2273-5BF871A39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tretch>
              <a:fillRect/>
            </a:stretch>
          </p:blipFill>
          <p:spPr>
            <a:xfrm rot="16200000">
              <a:off x="7118428" y="3721095"/>
              <a:ext cx="365760" cy="365760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D0F52F-75D9-15D3-454E-8EADA27392B5}"/>
                </a:ext>
              </a:extLst>
            </p:cNvPr>
            <p:cNvCxnSpPr>
              <a:cxnSpLocks/>
            </p:cNvCxnSpPr>
            <p:nvPr/>
          </p:nvCxnSpPr>
          <p:spPr>
            <a:xfrm>
              <a:off x="7286777" y="4094471"/>
              <a:ext cx="0" cy="2056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EBC5769-E4D2-2659-E4A1-C7467F899C64}"/>
              </a:ext>
            </a:extLst>
          </p:cNvPr>
          <p:cNvSpPr/>
          <p:nvPr/>
        </p:nvSpPr>
        <p:spPr>
          <a:xfrm>
            <a:off x="6459863" y="1801082"/>
            <a:ext cx="5402283" cy="4896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9EEDA-ECB3-848C-9648-03149D283CE1}"/>
              </a:ext>
            </a:extLst>
          </p:cNvPr>
          <p:cNvSpPr txBox="1"/>
          <p:nvPr/>
        </p:nvSpPr>
        <p:spPr>
          <a:xfrm>
            <a:off x="6580339" y="2129983"/>
            <a:ext cx="5181602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Evaluasi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Model 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Klasik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Tambahan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  <a:sym typeface="Arial"/>
            </a:endParaRPr>
          </a:p>
          <a:p>
            <a:pPr marL="337820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..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</a:t>
            </a: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marL="338138" lvl="0" indent="-171450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Penerapan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Model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Transformer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Bahasa Indonesia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  <a:sym typeface="Arial"/>
            </a:endParaRPr>
          </a:p>
          <a:p>
            <a:pPr marL="337820" lvl="0" indent="-163195" defTabSz="914377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..</a:t>
            </a:r>
            <a:endParaRPr lang="en-US" sz="1200">
              <a:solidFill>
                <a:prstClr val="black"/>
              </a:solidFill>
              <a:latin typeface="Poppins"/>
              <a:cs typeface="Poppins"/>
            </a:endParaRP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Perbandingan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Representasi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Teks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</a:endParaRPr>
          </a:p>
          <a:p>
            <a:pPr marL="337820" lvl="0" indent="-163195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..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</a:t>
            </a: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marL="338138" lvl="0" indent="-163513" defTabSz="914377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Penguatan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n-U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Arsitektur</a:t>
            </a:r>
            <a:r>
              <a:rPr lang="en-U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Sequence-Based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</a:endParaRPr>
          </a:p>
          <a:p>
            <a:pPr marL="337820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..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</a:t>
            </a: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  <a:p>
            <a:pPr lvl="0" defTabSz="914377">
              <a:defRPr/>
            </a:pPr>
            <a:endParaRPr lang="es-ES" sz="1200" b="1">
              <a:solidFill>
                <a:prstClr val="black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lvl="0" defTabSz="914377">
              <a:defRPr/>
            </a:pP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Analisis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Error pada </a:t>
            </a: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Kelas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</a:t>
            </a: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Netral</a:t>
            </a:r>
            <a:r>
              <a:rPr lang="es-ES" sz="1200" b="1" u="sng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 dan </a:t>
            </a:r>
            <a:r>
              <a:rPr lang="es-ES" sz="1200" b="1" u="sng" err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Positif</a:t>
            </a:r>
            <a:endParaRPr lang="en-US" sz="1200" b="1" u="sng">
              <a:solidFill>
                <a:prstClr val="black"/>
              </a:solidFill>
              <a:latin typeface="Poppins"/>
              <a:cs typeface="Poppins"/>
              <a:sym typeface="Arial"/>
            </a:endParaRPr>
          </a:p>
          <a:p>
            <a:pPr marL="337820" lvl="0" indent="-171450" defTabSz="914377"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..</a:t>
            </a:r>
            <a:r>
              <a:rPr lang="en-US" sz="1200">
                <a:solidFill>
                  <a:prstClr val="black"/>
                </a:solidFill>
                <a:latin typeface="Poppins"/>
                <a:cs typeface="Poppins"/>
                <a:sym typeface="Arial"/>
              </a:rPr>
              <a:t>.</a:t>
            </a:r>
            <a:endParaRPr lang="en-US" sz="1200">
              <a:solidFill>
                <a:prstClr val="black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Google Shape;456;p42">
            <a:extLst>
              <a:ext uri="{FF2B5EF4-FFF2-40B4-BE49-F238E27FC236}">
                <a16:creationId xmlns:a16="http://schemas.microsoft.com/office/drawing/2014/main" id="{4DFE3557-B672-4D71-1C27-3DCF6FB772B6}"/>
              </a:ext>
            </a:extLst>
          </p:cNvPr>
          <p:cNvSpPr/>
          <p:nvPr/>
        </p:nvSpPr>
        <p:spPr>
          <a:xfrm>
            <a:off x="6278880" y="1596115"/>
            <a:ext cx="2052223" cy="457200"/>
          </a:xfrm>
          <a:prstGeom prst="roundRect">
            <a:avLst/>
          </a:prstGeom>
          <a:gradFill>
            <a:gsLst>
              <a:gs pos="71000">
                <a:schemeClr val="tx1"/>
              </a:gs>
              <a:gs pos="93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378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Rekomendasi</a:t>
            </a:r>
            <a:endParaRPr kumimoji="0" lang="en-ID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911D58C-5002-9D44-9C43-778E43CBF15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29" y="1667918"/>
            <a:ext cx="326916" cy="3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01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605B-F5FA-6A70-A707-1BB8E7A5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E39866-C966-9730-E124-D4C346567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6A3279-393B-75D2-D7BF-4172BFEF31C1}"/>
              </a:ext>
            </a:extLst>
          </p:cNvPr>
          <p:cNvSpPr/>
          <p:nvPr/>
        </p:nvSpPr>
        <p:spPr>
          <a:xfrm>
            <a:off x="329332" y="144966"/>
            <a:ext cx="4070485" cy="434718"/>
          </a:xfrm>
          <a:prstGeom prst="roundRect">
            <a:avLst/>
          </a:prstGeom>
          <a:solidFill>
            <a:srgbClr val="E62E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Link Google Collab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0C10A-7B14-AE1A-AA32-C36B9DED9A06}"/>
              </a:ext>
            </a:extLst>
          </p:cNvPr>
          <p:cNvSpPr txBox="1"/>
          <p:nvPr/>
        </p:nvSpPr>
        <p:spPr>
          <a:xfrm>
            <a:off x="925419" y="2606968"/>
            <a:ext cx="10322804" cy="919401"/>
          </a:xfrm>
          <a:prstGeom prst="roundRect">
            <a:avLst/>
          </a:prstGeom>
          <a:solidFill>
            <a:srgbClr val="002060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sz="2400" b="1" i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https://colab.research.google.com/drive/1gy44Qw5XlOIQjnRdOfx2-_Nu9oIsFBe9?usp=sharing</a:t>
            </a:r>
            <a:endParaRPr lang="en-US" sz="2400" b="1" i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Google Shape;183;p29">
            <a:extLst>
              <a:ext uri="{FF2B5EF4-FFF2-40B4-BE49-F238E27FC236}">
                <a16:creationId xmlns:a16="http://schemas.microsoft.com/office/drawing/2014/main" id="{E0D43ACE-4D28-07D3-9F9F-E28EE1DB337A}"/>
              </a:ext>
            </a:extLst>
          </p:cNvPr>
          <p:cNvSpPr txBox="1">
            <a:spLocks/>
          </p:cNvSpPr>
          <p:nvPr/>
        </p:nvSpPr>
        <p:spPr>
          <a:xfrm>
            <a:off x="925419" y="2099047"/>
            <a:ext cx="7705529" cy="30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lang="en" sz="2000" kern="0">
                <a:solidFill>
                  <a:srgbClr val="0F2B36"/>
                </a:solidFill>
                <a:latin typeface="Poppins" pitchFamily="2" charset="77"/>
                <a:cs typeface="Poppins" pitchFamily="2" charset="77"/>
              </a:rPr>
              <a:t>Link Google Collab:</a:t>
            </a:r>
            <a:endParaRPr kumimoji="0" lang="en" sz="2000" b="1" i="0" strike="noStrike" kern="0" cap="none" spc="0" normalizeH="0" baseline="0" noProof="0">
              <a:ln>
                <a:noFill/>
              </a:ln>
              <a:solidFill>
                <a:srgbClr val="0F2B36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078339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3DD5126B-BEA7-7380-C820-64440FBA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31D364-C156-5075-140F-17F78E4D5D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31D364-C156-5075-140F-17F78E4D5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07AA32E-43FC-CE5F-13D2-F27C2703978D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Google Shape;183;p29">
            <a:extLst>
              <a:ext uri="{FF2B5EF4-FFF2-40B4-BE49-F238E27FC236}">
                <a16:creationId xmlns:a16="http://schemas.microsoft.com/office/drawing/2014/main" id="{BE402697-1B9D-8830-23FD-C369883DE77C}"/>
              </a:ext>
            </a:extLst>
          </p:cNvPr>
          <p:cNvSpPr txBox="1">
            <a:spLocks/>
          </p:cNvSpPr>
          <p:nvPr/>
        </p:nvSpPr>
        <p:spPr>
          <a:xfrm>
            <a:off x="2243235" y="2440570"/>
            <a:ext cx="7705529" cy="19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kumimoji="0" lang="en" sz="9600" b="1" i="0" u="none" strike="noStrike" kern="0" cap="none" spc="0" normalizeH="0" baseline="0" noProof="0">
                <a:ln>
                  <a:noFill/>
                </a:ln>
                <a:solidFill>
                  <a:srgbClr val="0F2B36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Space Grotesk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101D4-3764-5139-B94A-9C73A19F6226}"/>
              </a:ext>
            </a:extLst>
          </p:cNvPr>
          <p:cNvSpPr txBox="1"/>
          <p:nvPr/>
        </p:nvSpPr>
        <p:spPr>
          <a:xfrm>
            <a:off x="4006384" y="4213118"/>
            <a:ext cx="4179230" cy="408623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D57"/>
              </a:buClr>
              <a:buSzPts val="2600"/>
              <a:buFont typeface="Space Grotesk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Space Grotesk"/>
              </a:rPr>
              <a:t>Group C – Batch 10 NLP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1A2810-F38D-7C73-4C46-422AE0127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57" y="65928"/>
            <a:ext cx="1525734" cy="43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90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sAI Regular - v1">
  <a:themeElements>
    <a:clrScheme name="Simple Light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F9744D"/>
      </a:accent1>
      <a:accent2>
        <a:srgbClr val="E1F0C4"/>
      </a:accent2>
      <a:accent3>
        <a:srgbClr val="6BAB90"/>
      </a:accent3>
      <a:accent4>
        <a:srgbClr val="A4CCBB"/>
      </a:accent4>
      <a:accent5>
        <a:srgbClr val="3EABCA"/>
      </a:accent5>
      <a:accent6>
        <a:srgbClr val="C3455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SlidesAI Regular - v1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agil_setiawan</dc:creator>
  <cp:revision>2</cp:revision>
  <dcterms:created xsi:type="dcterms:W3CDTF">2026-03-06T02:58:40Z</dcterms:created>
  <dcterms:modified xsi:type="dcterms:W3CDTF">2026-03-25T13:36:31Z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caaddc-90a0-4995-b524-c269e4395a58_Enabled">
    <vt:lpwstr>true</vt:lpwstr>
  </property>
  <property fmtid="{D5CDD505-2E9C-101B-9397-08002B2CF9AE}" pid="3" name="MSIP_Label_d5caaddc-90a0-4995-b524-c269e4395a58_SetDate">
    <vt:lpwstr>2026-03-06T03:55:30Z</vt:lpwstr>
  </property>
  <property fmtid="{D5CDD505-2E9C-101B-9397-08002B2CF9AE}" pid="4" name="MSIP_Label_d5caaddc-90a0-4995-b524-c269e4395a58_Method">
    <vt:lpwstr>Standard</vt:lpwstr>
  </property>
  <property fmtid="{D5CDD505-2E9C-101B-9397-08002B2CF9AE}" pid="5" name="MSIP_Label_d5caaddc-90a0-4995-b524-c269e4395a58_Name">
    <vt:lpwstr>Internal</vt:lpwstr>
  </property>
  <property fmtid="{D5CDD505-2E9C-101B-9397-08002B2CF9AE}" pid="6" name="MSIP_Label_d5caaddc-90a0-4995-b524-c269e4395a58_SiteId">
    <vt:lpwstr>fc743075-93ed-4a5c-82c0-ca5eac914220</vt:lpwstr>
  </property>
  <property fmtid="{D5CDD505-2E9C-101B-9397-08002B2CF9AE}" pid="7" name="MSIP_Label_d5caaddc-90a0-4995-b524-c269e4395a58_ActionId">
    <vt:lpwstr>7196d0bc-f3f1-4be6-aa02-d26d08aff6be</vt:lpwstr>
  </property>
  <property fmtid="{D5CDD505-2E9C-101B-9397-08002B2CF9AE}" pid="8" name="MSIP_Label_d5caaddc-90a0-4995-b524-c269e4395a58_ContentBits">
    <vt:lpwstr>2</vt:lpwstr>
  </property>
  <property fmtid="{D5CDD505-2E9C-101B-9397-08002B2CF9AE}" pid="9" name="MSIP_Label_d5caaddc-90a0-4995-b524-c269e4395a58_Tag">
    <vt:lpwstr>10, 3, 0, 1</vt:lpwstr>
  </property>
  <property fmtid="{D5CDD505-2E9C-101B-9397-08002B2CF9AE}" pid="10" name="ClassificationContentMarkingFooterLocations">
    <vt:lpwstr>SlidesAI Regular - v1:3\Office Theme:8</vt:lpwstr>
  </property>
  <property fmtid="{D5CDD505-2E9C-101B-9397-08002B2CF9AE}" pid="11" name="ClassificationContentMarkingFooterText">
    <vt:lpwstr>Internal</vt:lpwstr>
  </property>
</Properties>
</file>